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Lato" panose="020F0502020204030203" pitchFamily="34" charset="0"/>
      <p:regular r:id="rId30"/>
      <p:bold r:id="rId31"/>
      <p:italic r:id="rId32"/>
      <p:boldItalic r:id="rId33"/>
    </p:embeddedFont>
    <p:embeddedFont>
      <p:font typeface="Montserrat" pitchFamily="2" charset="77"/>
      <p:regular r:id="rId34"/>
      <p:bold r:id="rId35"/>
      <p:italic r:id="rId36"/>
      <p:boldItalic r:id="rId37"/>
    </p:embeddedFont>
    <p:embeddedFont>
      <p:font typeface="Montserrat Light" panose="00000400000000000000" pitchFamily="2" charset="77"/>
      <p:regular r:id="rId38"/>
      <p:bold r:id="rId39"/>
      <p:italic r:id="rId40"/>
      <p:boldItalic r:id="rId41"/>
    </p:embeddedFont>
    <p:embeddedFont>
      <p:font typeface="Montserrat Medium" panose="00000600000000000000" pitchFamily="2" charset="77"/>
      <p:regular r:id="rId42"/>
      <p:bold r:id="rId43"/>
      <p:italic r:id="rId44"/>
      <p:boldItalic r:id="rId45"/>
    </p:embeddedFont>
    <p:embeddedFont>
      <p:font typeface="Montserrat SemiBold" panose="00000700000000000000" pitchFamily="2" charset="77"/>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37"/>
  </p:normalViewPr>
  <p:slideViewPr>
    <p:cSldViewPr snapToGrid="0">
      <p:cViewPr varScale="1">
        <p:scale>
          <a:sx n="119" d="100"/>
          <a:sy n="119" d="100"/>
        </p:scale>
        <p:origin x="70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f87997393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f87997393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f87997393_0_7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1f87997393_0_7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d0c505601b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d0c505601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f87997393_0_8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f87997393_0_8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f87997393_0_8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f87997393_0_8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d129062d72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d129062d72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d129062d72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d129062d72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d0c505601b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d0c505601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d0c505601b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d0c505601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f87997393_0_8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f87997393_0_8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d0c505601b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d0c505601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d0c505601b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2d0c505601b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d0c505601b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d0c505601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d0c505601b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d0c505601b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d0c505601b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d0c505601b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d0c505601b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d0c505601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0c505601b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0c505601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d0c505601b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d0c505601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d0c505601b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d0c505601b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d0c505601b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2d0c505601b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d0c505601b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d0c505601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d0c505601b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d0c505601b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2d0c505601b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2d0c505601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d0c505601b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d0c505601b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2d0c505601b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2d0c505601b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d0c505601b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d0c505601b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1f87997393_0_15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1f87997393_0_1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2" descr="offset_comp_406605.jpg"/>
          <p:cNvPicPr preferRelativeResize="0"/>
          <p:nvPr/>
        </p:nvPicPr>
        <p:blipFill rotWithShape="1">
          <a:blip r:embed="rId2">
            <a:alphaModFix amt="66000"/>
          </a:blip>
          <a:srcRect l="20991" t="2690" r="40112" b="39565"/>
          <a:stretch/>
        </p:blipFill>
        <p:spPr>
          <a:xfrm>
            <a:off x="0" y="0"/>
            <a:ext cx="5157900" cy="5143500"/>
          </a:xfrm>
          <a:prstGeom prst="rtTriangle">
            <a:avLst/>
          </a:prstGeom>
          <a:noFill/>
          <a:ln>
            <a:noFill/>
          </a:ln>
        </p:spPr>
      </p:pic>
      <p:pic>
        <p:nvPicPr>
          <p:cNvPr id="11" name="Google Shape;11;p2" descr="offset_comp_342327_edtied.jpg"/>
          <p:cNvPicPr preferRelativeResize="0"/>
          <p:nvPr/>
        </p:nvPicPr>
        <p:blipFill rotWithShape="1">
          <a:blip r:embed="rId3">
            <a:alphaModFix amt="31000"/>
          </a:blip>
          <a:srcRect l="14009" t="35833" r="43289" b="11297"/>
          <a:stretch/>
        </p:blipFill>
        <p:spPr>
          <a:xfrm rot="10800000">
            <a:off x="6976800" y="-25"/>
            <a:ext cx="2167200" cy="2012700"/>
          </a:xfrm>
          <a:prstGeom prst="rtTriangle">
            <a:avLst/>
          </a:prstGeom>
          <a:noFill/>
          <a:ln>
            <a:noFill/>
          </a:ln>
        </p:spPr>
      </p:pic>
      <p:sp>
        <p:nvSpPr>
          <p:cNvPr id="12" name="Google Shape;12;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3" name="Google Shape;13;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2"/>
          <p:cNvSpPr/>
          <p:nvPr/>
        </p:nvSpPr>
        <p:spPr>
          <a:xfrm rot="-5400000">
            <a:off x="5846" y="-4836"/>
            <a:ext cx="22914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flipH="1">
            <a:off x="652821" y="576768"/>
            <a:ext cx="2300100" cy="22914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8" name="Google Shape;3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3">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C">
  <p:cSld name="SECTION_HEADER_1">
    <p:spTree>
      <p:nvGrpSpPr>
        <p:cNvPr id="1"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64" name="Google Shape;64;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5">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4" name="Google Shape;74;p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75" name="Google Shape;7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_alt1">
  <p:cSld name="TITLE_AND_BODY_2">
    <p:spTree>
      <p:nvGrpSpPr>
        <p:cNvPr id="1" name="Shape 76"/>
        <p:cNvGrpSpPr/>
        <p:nvPr/>
      </p:nvGrpSpPr>
      <p:grpSpPr>
        <a:xfrm>
          <a:off x="0" y="0"/>
          <a:ext cx="0" cy="0"/>
          <a:chOff x="0" y="0"/>
          <a:chExt cx="0" cy="0"/>
        </a:xfrm>
      </p:grpSpPr>
      <p:sp>
        <p:nvSpPr>
          <p:cNvPr id="77" name="Google Shape;77;p6"/>
          <p:cNvSpPr txBox="1">
            <a:spLocks noGrp="1"/>
          </p:cNvSpPr>
          <p:nvPr>
            <p:ph type="title"/>
          </p:nvPr>
        </p:nvSpPr>
        <p:spPr>
          <a:xfrm>
            <a:off x="361071" y="1924852"/>
            <a:ext cx="2304900" cy="17973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78" name="Google Shape;78;p6"/>
          <p:cNvSpPr/>
          <p:nvPr/>
        </p:nvSpPr>
        <p:spPr>
          <a:xfrm>
            <a:off x="4564200" y="0"/>
            <a:ext cx="45798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txBox="1">
            <a:spLocks noGrp="1"/>
          </p:cNvSpPr>
          <p:nvPr>
            <p:ph type="body" idx="1"/>
          </p:nvPr>
        </p:nvSpPr>
        <p:spPr>
          <a:xfrm>
            <a:off x="6451271" y="1924850"/>
            <a:ext cx="2304900" cy="17973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Clr>
                <a:schemeClr val="dk1"/>
              </a:buClr>
              <a:buSzPts val="1100"/>
              <a:buChar char="●"/>
              <a:defRPr sz="1100">
                <a:solidFill>
                  <a:schemeClr val="dk1"/>
                </a:solidFill>
              </a:defRPr>
            </a:lvl1pPr>
            <a:lvl2pPr marL="914400" lvl="1" indent="-298450" rtl="0">
              <a:spcBef>
                <a:spcPts val="1600"/>
              </a:spcBef>
              <a:spcAft>
                <a:spcPts val="0"/>
              </a:spcAft>
              <a:buClr>
                <a:schemeClr val="dk1"/>
              </a:buClr>
              <a:buSzPts val="1100"/>
              <a:buChar char="○"/>
              <a:defRPr>
                <a:solidFill>
                  <a:schemeClr val="dk1"/>
                </a:solidFill>
              </a:defRPr>
            </a:lvl2pPr>
            <a:lvl3pPr marL="1371600" lvl="2" indent="-298450" rtl="0">
              <a:spcBef>
                <a:spcPts val="1600"/>
              </a:spcBef>
              <a:spcAft>
                <a:spcPts val="0"/>
              </a:spcAft>
              <a:buClr>
                <a:schemeClr val="dk1"/>
              </a:buClr>
              <a:buSzPts val="1100"/>
              <a:buChar char="■"/>
              <a:defRPr>
                <a:solidFill>
                  <a:schemeClr val="dk1"/>
                </a:solidFill>
              </a:defRPr>
            </a:lvl3pPr>
            <a:lvl4pPr marL="1828800" lvl="3" indent="-298450" rtl="0">
              <a:spcBef>
                <a:spcPts val="1600"/>
              </a:spcBef>
              <a:spcAft>
                <a:spcPts val="0"/>
              </a:spcAft>
              <a:buClr>
                <a:schemeClr val="dk1"/>
              </a:buClr>
              <a:buSzPts val="1100"/>
              <a:buChar char="●"/>
              <a:defRPr>
                <a:solidFill>
                  <a:schemeClr val="dk1"/>
                </a:solidFill>
              </a:defRPr>
            </a:lvl4pPr>
            <a:lvl5pPr marL="2286000" lvl="4" indent="-298450" rtl="0">
              <a:spcBef>
                <a:spcPts val="1600"/>
              </a:spcBef>
              <a:spcAft>
                <a:spcPts val="0"/>
              </a:spcAft>
              <a:buClr>
                <a:schemeClr val="dk1"/>
              </a:buClr>
              <a:buSzPts val="1100"/>
              <a:buChar char="○"/>
              <a:defRPr>
                <a:solidFill>
                  <a:schemeClr val="dk1"/>
                </a:solidFill>
              </a:defRPr>
            </a:lvl5pPr>
            <a:lvl6pPr marL="2743200" lvl="5" indent="-298450" rtl="0">
              <a:spcBef>
                <a:spcPts val="1600"/>
              </a:spcBef>
              <a:spcAft>
                <a:spcPts val="0"/>
              </a:spcAft>
              <a:buClr>
                <a:schemeClr val="dk1"/>
              </a:buClr>
              <a:buSzPts val="1100"/>
              <a:buChar char="■"/>
              <a:defRPr>
                <a:solidFill>
                  <a:schemeClr val="dk1"/>
                </a:solidFill>
              </a:defRPr>
            </a:lvl6pPr>
            <a:lvl7pPr marL="3200400" lvl="6" indent="-298450" rtl="0">
              <a:spcBef>
                <a:spcPts val="1600"/>
              </a:spcBef>
              <a:spcAft>
                <a:spcPts val="0"/>
              </a:spcAft>
              <a:buClr>
                <a:schemeClr val="dk1"/>
              </a:buClr>
              <a:buSzPts val="1100"/>
              <a:buChar char="●"/>
              <a:defRPr>
                <a:solidFill>
                  <a:schemeClr val="dk1"/>
                </a:solidFill>
              </a:defRPr>
            </a:lvl7pPr>
            <a:lvl8pPr marL="3657600" lvl="7" indent="-298450" rtl="0">
              <a:spcBef>
                <a:spcPts val="1600"/>
              </a:spcBef>
              <a:spcAft>
                <a:spcPts val="0"/>
              </a:spcAft>
              <a:buClr>
                <a:schemeClr val="dk1"/>
              </a:buClr>
              <a:buSzPts val="1100"/>
              <a:buChar char="○"/>
              <a:defRPr>
                <a:solidFill>
                  <a:schemeClr val="dk1"/>
                </a:solidFill>
              </a:defRPr>
            </a:lvl8pPr>
            <a:lvl9pPr marL="4114800" lvl="8" indent="-298450" rtl="0">
              <a:spcBef>
                <a:spcPts val="1600"/>
              </a:spcBef>
              <a:spcAft>
                <a:spcPts val="1600"/>
              </a:spcAft>
              <a:buClr>
                <a:schemeClr val="dk1"/>
              </a:buClr>
              <a:buSzPts val="1100"/>
              <a:buChar char="■"/>
              <a:defRPr>
                <a:solidFill>
                  <a:schemeClr val="dk1"/>
                </a:solidFill>
              </a:defRPr>
            </a:lvl9pPr>
          </a:lstStyle>
          <a:p>
            <a:endParaRPr/>
          </a:p>
        </p:txBody>
      </p:sp>
      <p:sp>
        <p:nvSpPr>
          <p:cNvPr id="80" name="Google Shape;80;p6">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6"/>
          <p:cNvSpPr txBox="1">
            <a:spLocks noGrp="1"/>
          </p:cNvSpPr>
          <p:nvPr>
            <p:ph type="title" idx="2"/>
          </p:nvPr>
        </p:nvSpPr>
        <p:spPr>
          <a:xfrm>
            <a:off x="1297500" y="459490"/>
            <a:ext cx="3005700" cy="5109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88" name="Google Shape;8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_alt2">
  <p:cSld name="TITLE_AND_BODY_2_1">
    <p:spTree>
      <p:nvGrpSpPr>
        <p:cNvPr id="1" name="Shape 89"/>
        <p:cNvGrpSpPr/>
        <p:nvPr/>
      </p:nvGrpSpPr>
      <p:grpSpPr>
        <a:xfrm>
          <a:off x="0" y="0"/>
          <a:ext cx="0" cy="0"/>
          <a:chOff x="0" y="0"/>
          <a:chExt cx="0" cy="0"/>
        </a:xfrm>
      </p:grpSpPr>
      <p:sp>
        <p:nvSpPr>
          <p:cNvPr id="90" name="Google Shape;90;p7"/>
          <p:cNvSpPr txBox="1">
            <a:spLocks noGrp="1"/>
          </p:cNvSpPr>
          <p:nvPr>
            <p:ph type="title"/>
          </p:nvPr>
        </p:nvSpPr>
        <p:spPr>
          <a:xfrm>
            <a:off x="702850" y="1708619"/>
            <a:ext cx="3333300" cy="14709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91" name="Google Shape;91;p7"/>
          <p:cNvSpPr/>
          <p:nvPr/>
        </p:nvSpPr>
        <p:spPr>
          <a:xfrm>
            <a:off x="0" y="3486600"/>
            <a:ext cx="9144000" cy="16569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7"/>
          <p:cNvSpPr txBox="1">
            <a:spLocks noGrp="1"/>
          </p:cNvSpPr>
          <p:nvPr>
            <p:ph type="title" idx="2"/>
          </p:nvPr>
        </p:nvSpPr>
        <p:spPr>
          <a:xfrm>
            <a:off x="1297500" y="459490"/>
            <a:ext cx="3005700" cy="510900"/>
          </a:xfrm>
          <a:prstGeom prst="rect">
            <a:avLst/>
          </a:prstGeom>
        </p:spPr>
        <p:txBody>
          <a:bodyPr spcFirstLastPara="1" wrap="square" lIns="91425" tIns="91425" rIns="91425" bIns="91425" anchor="t"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100" name="Google Shape;10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101" name="Google Shape;101;p7"/>
          <p:cNvSpPr txBox="1">
            <a:spLocks noGrp="1"/>
          </p:cNvSpPr>
          <p:nvPr>
            <p:ph type="body" idx="1"/>
          </p:nvPr>
        </p:nvSpPr>
        <p:spPr>
          <a:xfrm>
            <a:off x="702850" y="3625275"/>
            <a:ext cx="3333300" cy="7653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Clr>
                <a:schemeClr val="dk1"/>
              </a:buClr>
              <a:buSzPts val="1100"/>
              <a:buChar char="●"/>
              <a:defRPr sz="1100">
                <a:solidFill>
                  <a:schemeClr val="dk1"/>
                </a:solidFill>
              </a:defRPr>
            </a:lvl1pPr>
            <a:lvl2pPr marL="914400" lvl="1" indent="-298450" rtl="0">
              <a:spcBef>
                <a:spcPts val="1600"/>
              </a:spcBef>
              <a:spcAft>
                <a:spcPts val="0"/>
              </a:spcAft>
              <a:buClr>
                <a:schemeClr val="dk1"/>
              </a:buClr>
              <a:buSzPts val="1100"/>
              <a:buChar char="○"/>
              <a:defRPr>
                <a:solidFill>
                  <a:schemeClr val="dk1"/>
                </a:solidFill>
              </a:defRPr>
            </a:lvl2pPr>
            <a:lvl3pPr marL="1371600" lvl="2" indent="-298450" rtl="0">
              <a:spcBef>
                <a:spcPts val="1600"/>
              </a:spcBef>
              <a:spcAft>
                <a:spcPts val="0"/>
              </a:spcAft>
              <a:buClr>
                <a:schemeClr val="dk1"/>
              </a:buClr>
              <a:buSzPts val="1100"/>
              <a:buChar char="■"/>
              <a:defRPr>
                <a:solidFill>
                  <a:schemeClr val="dk1"/>
                </a:solidFill>
              </a:defRPr>
            </a:lvl3pPr>
            <a:lvl4pPr marL="1828800" lvl="3" indent="-298450" rtl="0">
              <a:spcBef>
                <a:spcPts val="1600"/>
              </a:spcBef>
              <a:spcAft>
                <a:spcPts val="0"/>
              </a:spcAft>
              <a:buClr>
                <a:schemeClr val="dk1"/>
              </a:buClr>
              <a:buSzPts val="1100"/>
              <a:buChar char="●"/>
              <a:defRPr>
                <a:solidFill>
                  <a:schemeClr val="dk1"/>
                </a:solidFill>
              </a:defRPr>
            </a:lvl4pPr>
            <a:lvl5pPr marL="2286000" lvl="4" indent="-298450" rtl="0">
              <a:spcBef>
                <a:spcPts val="1600"/>
              </a:spcBef>
              <a:spcAft>
                <a:spcPts val="0"/>
              </a:spcAft>
              <a:buClr>
                <a:schemeClr val="dk1"/>
              </a:buClr>
              <a:buSzPts val="1100"/>
              <a:buChar char="○"/>
              <a:defRPr>
                <a:solidFill>
                  <a:schemeClr val="dk1"/>
                </a:solidFill>
              </a:defRPr>
            </a:lvl5pPr>
            <a:lvl6pPr marL="2743200" lvl="5" indent="-298450" rtl="0">
              <a:spcBef>
                <a:spcPts val="1600"/>
              </a:spcBef>
              <a:spcAft>
                <a:spcPts val="0"/>
              </a:spcAft>
              <a:buClr>
                <a:schemeClr val="dk1"/>
              </a:buClr>
              <a:buSzPts val="1100"/>
              <a:buChar char="■"/>
              <a:defRPr>
                <a:solidFill>
                  <a:schemeClr val="dk1"/>
                </a:solidFill>
              </a:defRPr>
            </a:lvl6pPr>
            <a:lvl7pPr marL="3200400" lvl="6" indent="-298450" rtl="0">
              <a:spcBef>
                <a:spcPts val="1600"/>
              </a:spcBef>
              <a:spcAft>
                <a:spcPts val="0"/>
              </a:spcAft>
              <a:buClr>
                <a:schemeClr val="dk1"/>
              </a:buClr>
              <a:buSzPts val="1100"/>
              <a:buChar char="●"/>
              <a:defRPr>
                <a:solidFill>
                  <a:schemeClr val="dk1"/>
                </a:solidFill>
              </a:defRPr>
            </a:lvl7pPr>
            <a:lvl8pPr marL="3657600" lvl="7" indent="-298450" rtl="0">
              <a:spcBef>
                <a:spcPts val="1600"/>
              </a:spcBef>
              <a:spcAft>
                <a:spcPts val="0"/>
              </a:spcAft>
              <a:buClr>
                <a:schemeClr val="dk1"/>
              </a:buClr>
              <a:buSzPts val="1100"/>
              <a:buChar char="○"/>
              <a:defRPr>
                <a:solidFill>
                  <a:schemeClr val="dk1"/>
                </a:solidFill>
              </a:defRPr>
            </a:lvl8pPr>
            <a:lvl9pPr marL="4114800" lvl="8" indent="-298450" rtl="0">
              <a:spcBef>
                <a:spcPts val="1600"/>
              </a:spcBef>
              <a:spcAft>
                <a:spcPts val="1600"/>
              </a:spcAft>
              <a:buClr>
                <a:schemeClr val="dk1"/>
              </a:buClr>
              <a:buSzPts val="1100"/>
              <a:buChar char="■"/>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2"/>
        <p:cNvGrpSpPr/>
        <p:nvPr/>
      </p:nvGrpSpPr>
      <p:grpSpPr>
        <a:xfrm>
          <a:off x="0" y="0"/>
          <a:ext cx="0" cy="0"/>
          <a:chOff x="0" y="0"/>
          <a:chExt cx="0" cy="0"/>
        </a:xfrm>
      </p:grpSpPr>
      <p:sp>
        <p:nvSpPr>
          <p:cNvPr id="103" name="Google Shape;103;p8">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8">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8">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1" name="Google Shape;111;p8"/>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2" name="Google Shape;112;p8"/>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3" name="Google Shape;11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9">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23" name="Google Shape;12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4"/>
        <p:cNvGrpSpPr/>
        <p:nvPr/>
      </p:nvGrpSpPr>
      <p:grpSpPr>
        <a:xfrm>
          <a:off x="0" y="0"/>
          <a:ext cx="0" cy="0"/>
          <a:chOff x="0" y="0"/>
          <a:chExt cx="0" cy="0"/>
        </a:xfrm>
      </p:grpSpPr>
      <p:sp>
        <p:nvSpPr>
          <p:cNvPr id="125" name="Google Shape;125;p10">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0">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0">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0">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0"/>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 name="Google Shape;132;p10"/>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33" name="Google Shape;133;p10"/>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11">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1">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1">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1"/>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1"/>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1"/>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 name="Google Shape;159;p11"/>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0" name="Google Shape;16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1"/>
        <p:cNvGrpSpPr/>
        <p:nvPr/>
      </p:nvGrpSpPr>
      <p:grpSpPr>
        <a:xfrm>
          <a:off x="0" y="0"/>
          <a:ext cx="0" cy="0"/>
          <a:chOff x="0" y="0"/>
          <a:chExt cx="0" cy="0"/>
        </a:xfrm>
      </p:grpSpPr>
      <p:sp>
        <p:nvSpPr>
          <p:cNvPr id="162" name="Google Shape;162;p12">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2">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2">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2">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2"/>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 name="Google Shape;169;p12"/>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70" name="Google Shape;170;p12"/>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71" name="Google Shape;171;p12"/>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72" name="Google Shape;172;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3"/>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13"/>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78" name="Google Shape;17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79" name="Google Shape;179;p13">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3">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4"/>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4"/>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4"/>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4"/>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4"/>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4"/>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4"/>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4"/>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4"/>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4"/>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4"/>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4"/>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4"/>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4"/>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4"/>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4"/>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 name="Google Shape;203;p14"/>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5" name="Google Shape;20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206" name="Google Shape;206;p14">
            <a:hlinkClick r:id="rId2"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4">
            <a:hlinkClick r:id="rId2"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4">
            <a:hlinkClick r:id="rId2"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4">
            <a:hlinkClick r:id="rId2"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0"/>
        <p:cNvGrpSpPr/>
        <p:nvPr/>
      </p:nvGrpSpPr>
      <p:grpSpPr>
        <a:xfrm>
          <a:off x="0" y="0"/>
          <a:ext cx="0" cy="0"/>
          <a:chOff x="0" y="0"/>
          <a:chExt cx="0" cy="0"/>
        </a:xfrm>
      </p:grpSpPr>
      <p:sp>
        <p:nvSpPr>
          <p:cNvPr id="211" name="Google Shape;21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_alt3">
  <p:cSld name="TITLE_AND_BODY_1">
    <p:spTree>
      <p:nvGrpSpPr>
        <p:cNvPr id="1" name="Shape 212"/>
        <p:cNvGrpSpPr/>
        <p:nvPr/>
      </p:nvGrpSpPr>
      <p:grpSpPr>
        <a:xfrm>
          <a:off x="0" y="0"/>
          <a:ext cx="0" cy="0"/>
          <a:chOff x="0" y="0"/>
          <a:chExt cx="0" cy="0"/>
        </a:xfrm>
      </p:grpSpPr>
      <p:pic>
        <p:nvPicPr>
          <p:cNvPr id="213" name="Google Shape;213;p16" descr="offset_comp_343059.jpg"/>
          <p:cNvPicPr preferRelativeResize="0"/>
          <p:nvPr/>
        </p:nvPicPr>
        <p:blipFill rotWithShape="1">
          <a:blip r:embed="rId2">
            <a:alphaModFix amt="80000"/>
          </a:blip>
          <a:srcRect l="30474" t="11955" r="30474" b="25870"/>
          <a:stretch/>
        </p:blipFill>
        <p:spPr>
          <a:xfrm rot="-5400000">
            <a:off x="113630" y="-105700"/>
            <a:ext cx="5142300" cy="5364300"/>
          </a:xfrm>
          <a:prstGeom prst="diagStripe">
            <a:avLst>
              <a:gd name="adj" fmla="val 50343"/>
            </a:avLst>
          </a:prstGeom>
          <a:noFill/>
          <a:ln>
            <a:noFill/>
          </a:ln>
        </p:spPr>
      </p:pic>
      <p:sp>
        <p:nvSpPr>
          <p:cNvPr id="214" name="Google Shape;214;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5" name="Google Shape;215;p16"/>
          <p:cNvSpPr txBox="1">
            <a:spLocks noGrp="1"/>
          </p:cNvSpPr>
          <p:nvPr>
            <p:ph type="body" idx="1"/>
          </p:nvPr>
        </p:nvSpPr>
        <p:spPr>
          <a:xfrm>
            <a:off x="4018025" y="1567550"/>
            <a:ext cx="4318500" cy="17667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dk2"/>
              </a:buClr>
              <a:buSzPts val="1300"/>
              <a:buChar char="●"/>
              <a:defRPr>
                <a:solidFill>
                  <a:schemeClr val="dk2"/>
                </a:solidFill>
              </a:defRPr>
            </a:lvl1pPr>
            <a:lvl2pPr marL="914400" lvl="1" indent="-298450" rtl="0">
              <a:spcBef>
                <a:spcPts val="1600"/>
              </a:spcBef>
              <a:spcAft>
                <a:spcPts val="0"/>
              </a:spcAft>
              <a:buClr>
                <a:schemeClr val="dk2"/>
              </a:buClr>
              <a:buSzPts val="1100"/>
              <a:buChar char="○"/>
              <a:defRPr>
                <a:solidFill>
                  <a:schemeClr val="dk2"/>
                </a:solidFill>
              </a:defRPr>
            </a:lvl2pPr>
            <a:lvl3pPr marL="1371600" lvl="2" indent="-298450" rtl="0">
              <a:spcBef>
                <a:spcPts val="1600"/>
              </a:spcBef>
              <a:spcAft>
                <a:spcPts val="0"/>
              </a:spcAft>
              <a:buClr>
                <a:schemeClr val="dk2"/>
              </a:buClr>
              <a:buSzPts val="1100"/>
              <a:buChar char="■"/>
              <a:defRPr>
                <a:solidFill>
                  <a:schemeClr val="dk2"/>
                </a:solidFill>
              </a:defRPr>
            </a:lvl3pPr>
            <a:lvl4pPr marL="1828800" lvl="3" indent="-298450" rtl="0">
              <a:spcBef>
                <a:spcPts val="1600"/>
              </a:spcBef>
              <a:spcAft>
                <a:spcPts val="0"/>
              </a:spcAft>
              <a:buClr>
                <a:schemeClr val="dk2"/>
              </a:buClr>
              <a:buSzPts val="1100"/>
              <a:buChar char="●"/>
              <a:defRPr>
                <a:solidFill>
                  <a:schemeClr val="dk2"/>
                </a:solidFill>
              </a:defRPr>
            </a:lvl4pPr>
            <a:lvl5pPr marL="2286000" lvl="4" indent="-298450" rtl="0">
              <a:spcBef>
                <a:spcPts val="1600"/>
              </a:spcBef>
              <a:spcAft>
                <a:spcPts val="0"/>
              </a:spcAft>
              <a:buClr>
                <a:schemeClr val="dk2"/>
              </a:buClr>
              <a:buSzPts val="1100"/>
              <a:buChar char="○"/>
              <a:defRPr>
                <a:solidFill>
                  <a:schemeClr val="dk2"/>
                </a:solidFill>
              </a:defRPr>
            </a:lvl5pPr>
            <a:lvl6pPr marL="2743200" lvl="5" indent="-298450" rtl="0">
              <a:spcBef>
                <a:spcPts val="1600"/>
              </a:spcBef>
              <a:spcAft>
                <a:spcPts val="0"/>
              </a:spcAft>
              <a:buClr>
                <a:schemeClr val="dk2"/>
              </a:buClr>
              <a:buSzPts val="1100"/>
              <a:buChar char="■"/>
              <a:defRPr>
                <a:solidFill>
                  <a:schemeClr val="dk2"/>
                </a:solidFill>
              </a:defRPr>
            </a:lvl6pPr>
            <a:lvl7pPr marL="3200400" lvl="6" indent="-298450" rtl="0">
              <a:spcBef>
                <a:spcPts val="1600"/>
              </a:spcBef>
              <a:spcAft>
                <a:spcPts val="0"/>
              </a:spcAft>
              <a:buClr>
                <a:schemeClr val="dk2"/>
              </a:buClr>
              <a:buSzPts val="1100"/>
              <a:buChar char="●"/>
              <a:defRPr>
                <a:solidFill>
                  <a:schemeClr val="dk2"/>
                </a:solidFill>
              </a:defRPr>
            </a:lvl7pPr>
            <a:lvl8pPr marL="3657600" lvl="7" indent="-298450" rtl="0">
              <a:spcBef>
                <a:spcPts val="1600"/>
              </a:spcBef>
              <a:spcAft>
                <a:spcPts val="0"/>
              </a:spcAft>
              <a:buClr>
                <a:schemeClr val="dk2"/>
              </a:buClr>
              <a:buSzPts val="1100"/>
              <a:buChar char="○"/>
              <a:defRPr>
                <a:solidFill>
                  <a:schemeClr val="dk2"/>
                </a:solidFill>
              </a:defRPr>
            </a:lvl8pPr>
            <a:lvl9pPr marL="4114800" lvl="8" indent="-298450" rtl="0">
              <a:spcBef>
                <a:spcPts val="1600"/>
              </a:spcBef>
              <a:spcAft>
                <a:spcPts val="1600"/>
              </a:spcAft>
              <a:buClr>
                <a:schemeClr val="dk2"/>
              </a:buClr>
              <a:buSzPts val="1100"/>
              <a:buChar char="■"/>
              <a:defRPr>
                <a:solidFill>
                  <a:schemeClr val="dk2"/>
                </a:solidFill>
              </a:defRPr>
            </a:lvl9pPr>
          </a:lstStyle>
          <a:p>
            <a:endParaRPr/>
          </a:p>
        </p:txBody>
      </p:sp>
      <p:sp>
        <p:nvSpPr>
          <p:cNvPr id="216" name="Google Shape;21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217" name="Google Shape;217;p16">
            <a:hlinkClick r:id="rId3" action="ppaction://hlinksldjump"/>
          </p:cNvPr>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a:hlinkClick r:id="rId3" action="ppaction://hlinksldjump"/>
          </p:cNvPr>
          <p:cNvSpPr/>
          <p:nvPr/>
        </p:nvSpPr>
        <p:spPr>
          <a:xfrm>
            <a:off x="212050" y="221751"/>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6">
            <a:hlinkClick r:id="rId3" action="ppaction://hlinksldjump"/>
          </p:cNvPr>
          <p:cNvSpPr/>
          <p:nvPr/>
        </p:nvSpPr>
        <p:spPr>
          <a:xfrm>
            <a:off x="212050" y="284225"/>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6">
            <a:hlinkClick r:id="rId3" action="ppaction://hlinksldjump"/>
          </p:cNvPr>
          <p:cNvSpPr/>
          <p:nvPr/>
        </p:nvSpPr>
        <p:spPr>
          <a:xfrm>
            <a:off x="212050" y="346699"/>
            <a:ext cx="219600" cy="18900"/>
          </a:xfrm>
          <a:prstGeom prst="rect">
            <a:avLst/>
          </a:prstGeom>
          <a:solidFill>
            <a:srgbClr val="55688B">
              <a:alpha val="35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9.xml"/><Relationship Id="rId5" Type="http://schemas.openxmlformats.org/officeDocument/2006/relationships/image" Target="../media/image6.jpg"/><Relationship Id="rId4" Type="http://schemas.openxmlformats.org/officeDocument/2006/relationships/image" Target="../media/image4.jpg"/></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ctrTitle"/>
          </p:nvPr>
        </p:nvSpPr>
        <p:spPr>
          <a:xfrm>
            <a:off x="3481225" y="1164675"/>
            <a:ext cx="50175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Quant Final Presentation</a:t>
            </a:r>
            <a:endParaRPr/>
          </a:p>
          <a:p>
            <a:pPr marL="0" lvl="0" indent="0" algn="l" rtl="0">
              <a:spcBef>
                <a:spcPts val="0"/>
              </a:spcBef>
              <a:spcAft>
                <a:spcPts val="0"/>
              </a:spcAft>
              <a:buNone/>
            </a:pPr>
            <a:endParaRPr/>
          </a:p>
          <a:p>
            <a:pPr marL="0" lvl="0" indent="0" algn="l" rtl="0">
              <a:spcBef>
                <a:spcPts val="0"/>
              </a:spcBef>
              <a:spcAft>
                <a:spcPts val="0"/>
              </a:spcAft>
              <a:buNone/>
            </a:pPr>
            <a:r>
              <a:rPr lang="en-GB" sz="2000"/>
              <a:t>Ascendant Strategy Consultants </a:t>
            </a:r>
            <a:endParaRPr sz="2000"/>
          </a:p>
          <a:p>
            <a:pPr marL="0" lvl="0" indent="0" algn="l" rtl="0">
              <a:spcBef>
                <a:spcPts val="0"/>
              </a:spcBef>
              <a:spcAft>
                <a:spcPts val="0"/>
              </a:spcAft>
              <a:buNone/>
            </a:pPr>
            <a:endParaRPr sz="2000"/>
          </a:p>
        </p:txBody>
      </p:sp>
      <p:sp>
        <p:nvSpPr>
          <p:cNvPr id="229" name="Google Shape;229;p17"/>
          <p:cNvSpPr txBox="1">
            <a:spLocks noGrp="1"/>
          </p:cNvSpPr>
          <p:nvPr>
            <p:ph type="subTitle" idx="1"/>
          </p:nvPr>
        </p:nvSpPr>
        <p:spPr>
          <a:xfrm>
            <a:off x="5673300" y="4637400"/>
            <a:ext cx="3470700" cy="506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dirty="0"/>
              <a:t>Presentation By: Ram Byrraju</a:t>
            </a:r>
            <a:endParaRPr dirty="0"/>
          </a:p>
        </p:txBody>
      </p:sp>
      <p:pic>
        <p:nvPicPr>
          <p:cNvPr id="230" name="Google Shape;230;p17"/>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8"/>
          <p:cNvSpPr txBox="1">
            <a:spLocks noGrp="1"/>
          </p:cNvSpPr>
          <p:nvPr>
            <p:ph type="title"/>
          </p:nvPr>
        </p:nvSpPr>
        <p:spPr>
          <a:xfrm>
            <a:off x="1297500" y="1132625"/>
            <a:ext cx="7038900" cy="48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Overview </a:t>
            </a:r>
            <a:endParaRPr b="1"/>
          </a:p>
        </p:txBody>
      </p:sp>
      <p:sp>
        <p:nvSpPr>
          <p:cNvPr id="236" name="Google Shape;236;p18"/>
          <p:cNvSpPr txBox="1"/>
          <p:nvPr/>
        </p:nvSpPr>
        <p:spPr>
          <a:xfrm>
            <a:off x="1294300" y="3105150"/>
            <a:ext cx="3860400" cy="32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solidFill>
                  <a:srgbClr val="CACACA"/>
                </a:solidFill>
                <a:latin typeface="Montserrat SemiBold"/>
                <a:ea typeface="Montserrat SemiBold"/>
                <a:cs typeface="Montserrat SemiBold"/>
                <a:sym typeface="Montserrat SemiBold"/>
              </a:rPr>
              <a:t>Case 2: </a:t>
            </a:r>
            <a:r>
              <a:rPr lang="en-GB" sz="1200">
                <a:solidFill>
                  <a:schemeClr val="lt1"/>
                </a:solidFill>
                <a:latin typeface="Montserrat SemiBold"/>
                <a:ea typeface="Montserrat SemiBold"/>
                <a:cs typeface="Montserrat SemiBold"/>
                <a:sym typeface="Montserrat SemiBold"/>
              </a:rPr>
              <a:t>River City Fire Department (RCFD)</a:t>
            </a:r>
            <a:endParaRPr sz="1200">
              <a:solidFill>
                <a:schemeClr val="lt1"/>
              </a:solidFill>
              <a:latin typeface="Montserrat SemiBold"/>
              <a:ea typeface="Montserrat SemiBold"/>
              <a:cs typeface="Montserrat SemiBold"/>
              <a:sym typeface="Montserrat SemiBold"/>
            </a:endParaRPr>
          </a:p>
          <a:p>
            <a:pPr marL="914400" lvl="0" indent="0" algn="l" rtl="0">
              <a:spcBef>
                <a:spcPts val="0"/>
              </a:spcBef>
              <a:spcAft>
                <a:spcPts val="0"/>
              </a:spcAft>
              <a:buNone/>
            </a:pPr>
            <a:endParaRPr>
              <a:solidFill>
                <a:srgbClr val="CACACA"/>
              </a:solidFill>
              <a:latin typeface="Montserrat"/>
              <a:ea typeface="Montserrat"/>
              <a:cs typeface="Montserrat"/>
              <a:sym typeface="Montserrat"/>
            </a:endParaRPr>
          </a:p>
        </p:txBody>
      </p:sp>
      <p:sp>
        <p:nvSpPr>
          <p:cNvPr id="237" name="Google Shape;237;p18"/>
          <p:cNvSpPr txBox="1"/>
          <p:nvPr/>
        </p:nvSpPr>
        <p:spPr>
          <a:xfrm>
            <a:off x="1294300" y="2246238"/>
            <a:ext cx="4039200" cy="32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solidFill>
                  <a:srgbClr val="CACACA"/>
                </a:solidFill>
                <a:latin typeface="Montserrat SemiBold"/>
                <a:ea typeface="Montserrat SemiBold"/>
                <a:cs typeface="Montserrat SemiBold"/>
                <a:sym typeface="Montserrat SemiBold"/>
              </a:rPr>
              <a:t>Case 1: </a:t>
            </a:r>
            <a:r>
              <a:rPr lang="en-GB" sz="1200">
                <a:solidFill>
                  <a:schemeClr val="lt1"/>
                </a:solidFill>
                <a:latin typeface="Montserrat SemiBold"/>
                <a:ea typeface="Montserrat SemiBold"/>
                <a:cs typeface="Montserrat SemiBold"/>
                <a:sym typeface="Montserrat SemiBold"/>
              </a:rPr>
              <a:t>Wagner Fabricating Company </a:t>
            </a:r>
            <a:endParaRPr sz="1200">
              <a:solidFill>
                <a:schemeClr val="lt1"/>
              </a:solidFill>
              <a:latin typeface="Montserrat SemiBold"/>
              <a:ea typeface="Montserrat SemiBold"/>
              <a:cs typeface="Montserrat SemiBold"/>
              <a:sym typeface="Montserrat SemiBold"/>
            </a:endParaRPr>
          </a:p>
          <a:p>
            <a:pPr marL="0" lvl="0" indent="0" algn="l" rtl="0">
              <a:spcBef>
                <a:spcPts val="0"/>
              </a:spcBef>
              <a:spcAft>
                <a:spcPts val="0"/>
              </a:spcAft>
              <a:buNone/>
            </a:pPr>
            <a:endParaRPr sz="1200">
              <a:solidFill>
                <a:schemeClr val="lt1"/>
              </a:solidFill>
              <a:latin typeface="Montserrat SemiBold"/>
              <a:ea typeface="Montserrat SemiBold"/>
              <a:cs typeface="Montserrat SemiBold"/>
              <a:sym typeface="Montserrat SemiBold"/>
            </a:endParaRPr>
          </a:p>
          <a:p>
            <a:pPr marL="914400" lvl="0" indent="0" algn="l" rtl="0">
              <a:spcBef>
                <a:spcPts val="0"/>
              </a:spcBef>
              <a:spcAft>
                <a:spcPts val="0"/>
              </a:spcAft>
              <a:buNone/>
            </a:pPr>
            <a:endParaRPr>
              <a:solidFill>
                <a:srgbClr val="CACACA"/>
              </a:solidFill>
              <a:latin typeface="Montserrat"/>
              <a:ea typeface="Montserrat"/>
              <a:cs typeface="Montserrat"/>
              <a:sym typeface="Montserrat"/>
            </a:endParaRPr>
          </a:p>
        </p:txBody>
      </p:sp>
      <p:pic>
        <p:nvPicPr>
          <p:cNvPr id="238" name="Google Shape;238;p18"/>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Case 1: Wagner Fabricating Company </a:t>
            </a:r>
            <a:endParaRPr/>
          </a:p>
        </p:txBody>
      </p:sp>
      <p:sp>
        <p:nvSpPr>
          <p:cNvPr id="244" name="Google Shape;244;p19"/>
          <p:cNvSpPr txBox="1">
            <a:spLocks noGrp="1"/>
          </p:cNvSpPr>
          <p:nvPr>
            <p:ph type="body" idx="1"/>
          </p:nvPr>
        </p:nvSpPr>
        <p:spPr>
          <a:xfrm>
            <a:off x="693250" y="1666050"/>
            <a:ext cx="7748700" cy="281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Montserrat Medium"/>
                <a:ea typeface="Montserrat Medium"/>
                <a:cs typeface="Montserrat Medium"/>
                <a:sym typeface="Montserrat Medium"/>
              </a:rPr>
              <a:t>Wagner Fabricating Company is evaluating the economic feasibility of shifting production of a part in-house, previously sourced from a supplier, due to recent expansions in their production capacity. With an annual demand of 3200 units and operating 250 days per year, the company currently buys the part at $18 each, while internal production would cost $17 per unit. However, substantial setup costs are involved, estimated at $400 for an eight-hour shift. Additional financial considerations include a 14% cost of capital, with inventory-related costs amounting to $48,000 annually from taxes, insurance, shrinkage, and overhead. With the capability to produce 1000 units per month and using a two-week lead time to meet normally distributed demand, Wagner must decide if the savings and available capacity justify the internal manufacturing shift, considering the setup expenses and operational adjustments required.</a:t>
            </a:r>
            <a:endParaRPr sz="1200">
              <a:latin typeface="Montserrat Medium"/>
              <a:ea typeface="Montserrat Medium"/>
              <a:cs typeface="Montserrat Medium"/>
              <a:sym typeface="Montserrat Medium"/>
            </a:endParaRPr>
          </a:p>
          <a:p>
            <a:pPr marL="0" lvl="0" indent="0" algn="l" rtl="0">
              <a:spcBef>
                <a:spcPts val="0"/>
              </a:spcBef>
              <a:spcAft>
                <a:spcPts val="1600"/>
              </a:spcAft>
              <a:buNone/>
            </a:pPr>
            <a:endParaRPr sz="1200">
              <a:latin typeface="Montserrat Medium"/>
              <a:ea typeface="Montserrat Medium"/>
              <a:cs typeface="Montserrat Medium"/>
              <a:sym typeface="Montserrat Medium"/>
            </a:endParaRPr>
          </a:p>
        </p:txBody>
      </p:sp>
      <p:pic>
        <p:nvPicPr>
          <p:cNvPr id="245" name="Google Shape;245;p19"/>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Business Problem </a:t>
            </a:r>
            <a:endParaRPr/>
          </a:p>
          <a:p>
            <a:pPr marL="0" lvl="0" indent="0" algn="l" rtl="0">
              <a:spcBef>
                <a:spcPts val="0"/>
              </a:spcBef>
              <a:spcAft>
                <a:spcPts val="0"/>
              </a:spcAft>
              <a:buNone/>
            </a:pPr>
            <a:endParaRPr/>
          </a:p>
        </p:txBody>
      </p:sp>
      <p:sp>
        <p:nvSpPr>
          <p:cNvPr id="251" name="Google Shape;251;p20"/>
          <p:cNvSpPr txBox="1"/>
          <p:nvPr/>
        </p:nvSpPr>
        <p:spPr>
          <a:xfrm>
            <a:off x="1297500" y="2079750"/>
            <a:ext cx="6675300" cy="2862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a:solidFill>
                  <a:schemeClr val="lt1"/>
                </a:solidFill>
                <a:latin typeface="Montserrat Medium"/>
                <a:ea typeface="Montserrat Medium"/>
                <a:cs typeface="Montserrat Medium"/>
                <a:sym typeface="Montserrat Medium"/>
              </a:rPr>
              <a:t>Wagner Fabricating Company is evaluating the feasibility of manufacturing a part in-house versus continuing to purchase it from a supplier. The decision revolves around balancing production capacity, costs, and inventory management to optimize financial and operational performance.</a:t>
            </a:r>
            <a:endParaRPr sz="120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None/>
            </a:pPr>
            <a:endParaRPr sz="1100"/>
          </a:p>
          <a:p>
            <a:pPr marL="457200" lvl="0" indent="0" algn="l" rtl="0">
              <a:lnSpc>
                <a:spcPct val="115000"/>
              </a:lnSpc>
              <a:spcBef>
                <a:spcPts val="1200"/>
              </a:spcBef>
              <a:spcAft>
                <a:spcPts val="0"/>
              </a:spcAft>
              <a:buNone/>
            </a:pPr>
            <a:endParaRPr sz="1200" b="1">
              <a:solidFill>
                <a:schemeClr val="lt1"/>
              </a:solidFill>
              <a:latin typeface="Montserrat"/>
              <a:ea typeface="Montserrat"/>
              <a:cs typeface="Montserrat"/>
              <a:sym typeface="Montserrat"/>
            </a:endParaRPr>
          </a:p>
          <a:p>
            <a:pPr marL="0" lvl="0" indent="0" algn="l" rtl="0">
              <a:spcBef>
                <a:spcPts val="1200"/>
              </a:spcBef>
              <a:spcAft>
                <a:spcPts val="0"/>
              </a:spcAft>
              <a:buNone/>
            </a:pPr>
            <a:endParaRPr sz="1300">
              <a:solidFill>
                <a:schemeClr val="lt1"/>
              </a:solidFill>
              <a:latin typeface="Lato"/>
              <a:ea typeface="Lato"/>
              <a:cs typeface="Lato"/>
              <a:sym typeface="Lato"/>
            </a:endParaRPr>
          </a:p>
        </p:txBody>
      </p:sp>
      <p:pic>
        <p:nvPicPr>
          <p:cNvPr id="252" name="Google Shape;252;p20"/>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the Business Problem </a:t>
            </a:r>
            <a:endParaRPr/>
          </a:p>
        </p:txBody>
      </p:sp>
      <p:sp>
        <p:nvSpPr>
          <p:cNvPr id="258" name="Google Shape;258;p21"/>
          <p:cNvSpPr txBox="1">
            <a:spLocks noGrp="1"/>
          </p:cNvSpPr>
          <p:nvPr>
            <p:ph type="body" idx="1"/>
          </p:nvPr>
        </p:nvSpPr>
        <p:spPr>
          <a:xfrm>
            <a:off x="2966950" y="1307850"/>
            <a:ext cx="3876000" cy="13980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Cost Analysis: </a:t>
            </a:r>
            <a:endParaRPr/>
          </a:p>
          <a:p>
            <a:pPr marL="0" lvl="0" indent="0" algn="l" rtl="0">
              <a:spcBef>
                <a:spcPts val="1600"/>
              </a:spcBef>
              <a:spcAft>
                <a:spcPts val="0"/>
              </a:spcAft>
              <a:buNone/>
            </a:pPr>
            <a:r>
              <a:rPr lang="en-GB" sz="1000">
                <a:solidFill>
                  <a:schemeClr val="lt1"/>
                </a:solidFill>
                <a:latin typeface="Montserrat Light"/>
                <a:ea typeface="Montserrat Light"/>
                <a:cs typeface="Montserrat Light"/>
                <a:sym typeface="Montserrat Light"/>
              </a:rPr>
              <a:t>Total Purchasing Cost for the Year: = Annual Demand × Current Purchasing Cost</a:t>
            </a: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r>
              <a:rPr lang="en-GB" sz="1000">
                <a:solidFill>
                  <a:schemeClr val="lt1"/>
                </a:solidFill>
                <a:latin typeface="Montserrat Light"/>
                <a:ea typeface="Montserrat Light"/>
                <a:cs typeface="Montserrat Light"/>
                <a:sym typeface="Montserrat Light"/>
              </a:rPr>
              <a:t>Total Manufacturing Cost for the Year: = (Annual Demand × Proposed Manufacturing Cost) + Setup Costs + Annual Overheads</a:t>
            </a: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endParaRPr/>
          </a:p>
          <a:p>
            <a:pPr marL="0" lvl="0" indent="0" algn="l" rtl="0">
              <a:spcBef>
                <a:spcPts val="1600"/>
              </a:spcBef>
              <a:spcAft>
                <a:spcPts val="1600"/>
              </a:spcAft>
              <a:buNone/>
            </a:pPr>
            <a:endParaRPr sz="1000">
              <a:solidFill>
                <a:schemeClr val="lt1"/>
              </a:solidFill>
              <a:latin typeface="Montserrat Light"/>
              <a:ea typeface="Montserrat Light"/>
              <a:cs typeface="Montserrat Light"/>
              <a:sym typeface="Montserrat Light"/>
            </a:endParaRPr>
          </a:p>
        </p:txBody>
      </p:sp>
      <p:pic>
        <p:nvPicPr>
          <p:cNvPr id="259" name="Google Shape;259;p21"/>
          <p:cNvPicPr preferRelativeResize="0"/>
          <p:nvPr/>
        </p:nvPicPr>
        <p:blipFill>
          <a:blip r:embed="rId3">
            <a:alphaModFix/>
          </a:blip>
          <a:stretch>
            <a:fillRect/>
          </a:stretch>
        </p:blipFill>
        <p:spPr>
          <a:xfrm>
            <a:off x="8330225" y="96500"/>
            <a:ext cx="717675" cy="613025"/>
          </a:xfrm>
          <a:prstGeom prst="rect">
            <a:avLst/>
          </a:prstGeom>
          <a:noFill/>
          <a:ln>
            <a:noFill/>
          </a:ln>
        </p:spPr>
      </p:pic>
      <p:sp>
        <p:nvSpPr>
          <p:cNvPr id="260" name="Google Shape;260;p21"/>
          <p:cNvSpPr txBox="1"/>
          <p:nvPr/>
        </p:nvSpPr>
        <p:spPr>
          <a:xfrm>
            <a:off x="5590750" y="4070075"/>
            <a:ext cx="3457200" cy="86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spcBef>
                <a:spcPts val="1600"/>
              </a:spcBef>
              <a:spcAft>
                <a:spcPts val="0"/>
              </a:spcAft>
              <a:buNone/>
            </a:pPr>
            <a:endParaRPr sz="1300">
              <a:solidFill>
                <a:schemeClr val="lt1"/>
              </a:solidFill>
              <a:latin typeface="Lato"/>
              <a:ea typeface="Lato"/>
              <a:cs typeface="Lato"/>
              <a:sym typeface="Lato"/>
            </a:endParaRPr>
          </a:p>
        </p:txBody>
      </p:sp>
      <p:sp>
        <p:nvSpPr>
          <p:cNvPr id="261" name="Google Shape;261;p21"/>
          <p:cNvSpPr txBox="1"/>
          <p:nvPr/>
        </p:nvSpPr>
        <p:spPr>
          <a:xfrm>
            <a:off x="5190200" y="3231475"/>
            <a:ext cx="3857700" cy="96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300">
                <a:solidFill>
                  <a:schemeClr val="dk2"/>
                </a:solidFill>
                <a:latin typeface="Lato"/>
                <a:ea typeface="Lato"/>
                <a:cs typeface="Lato"/>
                <a:sym typeface="Lato"/>
              </a:rPr>
              <a:t>Demand and Supply: </a:t>
            </a:r>
            <a:endParaRPr sz="1300">
              <a:solidFill>
                <a:schemeClr val="dk2"/>
              </a:solidFill>
              <a:latin typeface="Lato"/>
              <a:ea typeface="Lato"/>
              <a:cs typeface="Lato"/>
              <a:sym typeface="Lato"/>
            </a:endParaRPr>
          </a:p>
          <a:p>
            <a:pPr marL="0" lvl="0" indent="0" algn="l" rtl="0">
              <a:lnSpc>
                <a:spcPct val="115000"/>
              </a:lnSpc>
              <a:spcBef>
                <a:spcPts val="1600"/>
              </a:spcBef>
              <a:spcAft>
                <a:spcPts val="0"/>
              </a:spcAft>
              <a:buNone/>
            </a:pPr>
            <a:r>
              <a:rPr lang="en-GB" sz="1000">
                <a:solidFill>
                  <a:schemeClr val="lt1"/>
                </a:solidFill>
                <a:latin typeface="Montserrat Light"/>
                <a:ea typeface="Montserrat Light"/>
                <a:cs typeface="Montserrat Light"/>
                <a:sym typeface="Montserrat Light"/>
              </a:rPr>
              <a:t>Total Production Potential per Year: = Production Capability × 12 months</a:t>
            </a: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r>
              <a:rPr lang="en-GB" sz="1000">
                <a:solidFill>
                  <a:schemeClr val="lt1"/>
                </a:solidFill>
                <a:latin typeface="Montserrat Light"/>
                <a:ea typeface="Montserrat Light"/>
                <a:cs typeface="Montserrat Light"/>
                <a:sym typeface="Montserrat Light"/>
              </a:rPr>
              <a:t>We should also assess stock-out risks but for that, more specific risk cost assessments or scenarios might be needed.</a:t>
            </a: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endParaRPr sz="1300">
              <a:solidFill>
                <a:schemeClr val="dk2"/>
              </a:solidFill>
              <a:latin typeface="Lato"/>
              <a:ea typeface="Lato"/>
              <a:cs typeface="Lato"/>
              <a:sym typeface="Lato"/>
            </a:endParaRPr>
          </a:p>
          <a:p>
            <a:pPr marL="0" lvl="0" indent="0" algn="l" rtl="0">
              <a:spcBef>
                <a:spcPts val="1600"/>
              </a:spcBef>
              <a:spcAft>
                <a:spcPts val="0"/>
              </a:spcAft>
              <a:buNone/>
            </a:pP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the Business Problem </a:t>
            </a:r>
            <a:endParaRPr/>
          </a:p>
        </p:txBody>
      </p:sp>
      <p:sp>
        <p:nvSpPr>
          <p:cNvPr id="267" name="Google Shape;267;p22"/>
          <p:cNvSpPr txBox="1">
            <a:spLocks noGrp="1"/>
          </p:cNvSpPr>
          <p:nvPr>
            <p:ph type="body" idx="1"/>
          </p:nvPr>
        </p:nvSpPr>
        <p:spPr>
          <a:xfrm>
            <a:off x="2944575" y="1028300"/>
            <a:ext cx="3876000" cy="13980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Inventory and Related Costs: </a:t>
            </a:r>
            <a:endParaRPr/>
          </a:p>
          <a:p>
            <a:pPr marL="0" lvl="0" indent="0" algn="l" rtl="0">
              <a:spcBef>
                <a:spcPts val="1600"/>
              </a:spcBef>
              <a:spcAft>
                <a:spcPts val="0"/>
              </a:spcAft>
              <a:buNone/>
            </a:pPr>
            <a:r>
              <a:rPr lang="en-GB" sz="1000">
                <a:solidFill>
                  <a:schemeClr val="lt1"/>
                </a:solidFill>
                <a:latin typeface="Montserrat Light"/>
                <a:ea typeface="Montserrat Light"/>
                <a:cs typeface="Montserrat Light"/>
                <a:sym typeface="Montserrat Light"/>
              </a:rPr>
              <a:t>Total Annual Inventory Costs: = Taxes and Insurance + Shrinkage Losses + Warehouse Overheads + Purchasing Operation Costs (Annual)</a:t>
            </a: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r>
              <a:rPr lang="en-GB" sz="1000">
                <a:solidFill>
                  <a:schemeClr val="lt1"/>
                </a:solidFill>
                <a:latin typeface="Montserrat Light"/>
                <a:ea typeface="Montserrat Light"/>
                <a:cs typeface="Montserrat Light"/>
                <a:sym typeface="Montserrat Light"/>
              </a:rPr>
              <a:t>Purchasing Operation Costs: = (Hourly Processing Cost × Hours per Order × Number of Orders per Year) + Order-Related Expenses</a:t>
            </a: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r>
              <a:rPr lang="en-GB" sz="1000">
                <a:solidFill>
                  <a:schemeClr val="lt1"/>
                </a:solidFill>
                <a:latin typeface="Montserrat Light"/>
                <a:ea typeface="Montserrat Light"/>
                <a:cs typeface="Montserrat Light"/>
                <a:sym typeface="Montserrat Light"/>
              </a:rPr>
              <a:t>Number of Orders per Year = Annual Demand / Units per Order (need clarification on units per order)</a:t>
            </a: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endParaRPr/>
          </a:p>
          <a:p>
            <a:pPr marL="0" lvl="0" indent="0" algn="l" rtl="0">
              <a:spcBef>
                <a:spcPts val="1600"/>
              </a:spcBef>
              <a:spcAft>
                <a:spcPts val="1600"/>
              </a:spcAft>
              <a:buNone/>
            </a:pPr>
            <a:endParaRPr sz="1000">
              <a:solidFill>
                <a:schemeClr val="lt1"/>
              </a:solidFill>
              <a:latin typeface="Montserrat Light"/>
              <a:ea typeface="Montserrat Light"/>
              <a:cs typeface="Montserrat Light"/>
              <a:sym typeface="Montserrat Light"/>
            </a:endParaRPr>
          </a:p>
        </p:txBody>
      </p:sp>
      <p:pic>
        <p:nvPicPr>
          <p:cNvPr id="268" name="Google Shape;268;p22"/>
          <p:cNvPicPr preferRelativeResize="0"/>
          <p:nvPr/>
        </p:nvPicPr>
        <p:blipFill>
          <a:blip r:embed="rId3">
            <a:alphaModFix/>
          </a:blip>
          <a:stretch>
            <a:fillRect/>
          </a:stretch>
        </p:blipFill>
        <p:spPr>
          <a:xfrm>
            <a:off x="8330225" y="96500"/>
            <a:ext cx="717675" cy="613025"/>
          </a:xfrm>
          <a:prstGeom prst="rect">
            <a:avLst/>
          </a:prstGeom>
          <a:noFill/>
          <a:ln>
            <a:noFill/>
          </a:ln>
        </p:spPr>
      </p:pic>
      <p:sp>
        <p:nvSpPr>
          <p:cNvPr id="269" name="Google Shape;269;p22"/>
          <p:cNvSpPr txBox="1"/>
          <p:nvPr/>
        </p:nvSpPr>
        <p:spPr>
          <a:xfrm>
            <a:off x="5590750" y="4070075"/>
            <a:ext cx="3457200" cy="86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spcBef>
                <a:spcPts val="1600"/>
              </a:spcBef>
              <a:spcAft>
                <a:spcPts val="0"/>
              </a:spcAft>
              <a:buNone/>
            </a:pPr>
            <a:endParaRPr sz="1300">
              <a:solidFill>
                <a:schemeClr val="lt1"/>
              </a:solidFill>
              <a:latin typeface="Lato"/>
              <a:ea typeface="Lato"/>
              <a:cs typeface="Lato"/>
              <a:sym typeface="Lato"/>
            </a:endParaRPr>
          </a:p>
        </p:txBody>
      </p:sp>
      <p:sp>
        <p:nvSpPr>
          <p:cNvPr id="270" name="Google Shape;270;p22"/>
          <p:cNvSpPr txBox="1"/>
          <p:nvPr/>
        </p:nvSpPr>
        <p:spPr>
          <a:xfrm>
            <a:off x="5190200" y="3231475"/>
            <a:ext cx="3857700" cy="96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300">
                <a:solidFill>
                  <a:schemeClr val="dk2"/>
                </a:solidFill>
                <a:latin typeface="Lato"/>
                <a:ea typeface="Lato"/>
                <a:cs typeface="Lato"/>
                <a:sym typeface="Lato"/>
              </a:rPr>
              <a:t>Additional Calculations: </a:t>
            </a:r>
            <a:endParaRPr sz="1300">
              <a:solidFill>
                <a:schemeClr val="dk2"/>
              </a:solidFill>
              <a:latin typeface="Lato"/>
              <a:ea typeface="Lato"/>
              <a:cs typeface="Lato"/>
              <a:sym typeface="Lato"/>
            </a:endParaRPr>
          </a:p>
          <a:p>
            <a:pPr marL="0" lvl="0" indent="0" algn="l" rtl="0">
              <a:lnSpc>
                <a:spcPct val="115000"/>
              </a:lnSpc>
              <a:spcBef>
                <a:spcPts val="1600"/>
              </a:spcBef>
              <a:spcAft>
                <a:spcPts val="0"/>
              </a:spcAft>
              <a:buNone/>
            </a:pPr>
            <a:r>
              <a:rPr lang="en-GB" sz="1000">
                <a:solidFill>
                  <a:schemeClr val="lt1"/>
                </a:solidFill>
                <a:latin typeface="Montserrat Light"/>
                <a:ea typeface="Montserrat Light"/>
                <a:cs typeface="Montserrat Light"/>
                <a:sym typeface="Montserrat Light"/>
              </a:rPr>
              <a:t>Break-even Analysis for Manufacturing vs. Purchasing: We can compare when manufacturing becomes cost-effective.</a:t>
            </a: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r>
              <a:rPr lang="en-GB" sz="1000">
                <a:solidFill>
                  <a:schemeClr val="lt1"/>
                </a:solidFill>
                <a:latin typeface="Montserrat Light"/>
                <a:ea typeface="Montserrat Light"/>
                <a:cs typeface="Montserrat Light"/>
                <a:sym typeface="Montserrat Light"/>
              </a:rPr>
              <a:t>Safety Stock Levels and Reorder Points:</a:t>
            </a: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r>
              <a:rPr lang="en-GB" sz="1000">
                <a:solidFill>
                  <a:schemeClr val="lt1"/>
                </a:solidFill>
                <a:latin typeface="Montserrat Light"/>
                <a:ea typeface="Montserrat Light"/>
                <a:cs typeface="Montserrat Light"/>
                <a:sym typeface="Montserrat Light"/>
              </a:rPr>
              <a:t>Safety Stock = Z-score × SD of Lead Time Demand</a:t>
            </a: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r>
              <a:rPr lang="en-GB" sz="1000">
                <a:solidFill>
                  <a:schemeClr val="lt1"/>
                </a:solidFill>
                <a:latin typeface="Montserrat Light"/>
                <a:ea typeface="Montserrat Light"/>
                <a:cs typeface="Montserrat Light"/>
                <a:sym typeface="Montserrat Light"/>
              </a:rPr>
              <a:t>Reorder Point = (Average Lead Time × Demand per Time Unit) + Safety Stock</a:t>
            </a: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lnSpc>
                <a:spcPct val="115000"/>
              </a:lnSpc>
              <a:spcBef>
                <a:spcPts val="0"/>
              </a:spcBef>
              <a:spcAft>
                <a:spcPts val="0"/>
              </a:spcAft>
              <a:buNone/>
            </a:pPr>
            <a:endParaRPr sz="1000">
              <a:solidFill>
                <a:schemeClr val="lt1"/>
              </a:solidFill>
              <a:latin typeface="Montserrat Light"/>
              <a:ea typeface="Montserrat Light"/>
              <a:cs typeface="Montserrat Light"/>
              <a:sym typeface="Montserrat Light"/>
            </a:endParaRPr>
          </a:p>
          <a:p>
            <a:pPr marL="0" lvl="0" indent="0" algn="l" rtl="0">
              <a:spcBef>
                <a:spcPts val="1600"/>
              </a:spcBef>
              <a:spcAft>
                <a:spcPts val="0"/>
              </a:spcAft>
              <a:buNone/>
            </a:pP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the Business Problem </a:t>
            </a:r>
            <a:endParaRPr/>
          </a:p>
        </p:txBody>
      </p:sp>
      <p:sp>
        <p:nvSpPr>
          <p:cNvPr id="276" name="Google Shape;276;p23"/>
          <p:cNvSpPr txBox="1">
            <a:spLocks noGrp="1"/>
          </p:cNvSpPr>
          <p:nvPr>
            <p:ph type="body" idx="1"/>
          </p:nvPr>
        </p:nvSpPr>
        <p:spPr>
          <a:xfrm>
            <a:off x="4018025" y="1307850"/>
            <a:ext cx="4950900" cy="20265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Cost Analysis: </a:t>
            </a:r>
            <a:endParaRPr/>
          </a:p>
          <a:p>
            <a:pPr marL="457200" lvl="0" indent="-311150" algn="l" rtl="0">
              <a:lnSpc>
                <a:spcPct val="150000"/>
              </a:lnSpc>
              <a:spcBef>
                <a:spcPts val="1600"/>
              </a:spcBef>
              <a:spcAft>
                <a:spcPts val="0"/>
              </a:spcAft>
              <a:buSzPts val="1300"/>
              <a:buChar char="❖"/>
            </a:pPr>
            <a:r>
              <a:rPr lang="en-GB"/>
              <a:t>Current Purchasing Cost: $18/unit</a:t>
            </a:r>
            <a:endParaRPr/>
          </a:p>
          <a:p>
            <a:pPr marL="457200" lvl="0" indent="-311150" algn="l" rtl="0">
              <a:lnSpc>
                <a:spcPct val="150000"/>
              </a:lnSpc>
              <a:spcBef>
                <a:spcPts val="0"/>
              </a:spcBef>
              <a:spcAft>
                <a:spcPts val="0"/>
              </a:spcAft>
              <a:buSzPts val="1300"/>
              <a:buChar char="❖"/>
            </a:pPr>
            <a:r>
              <a:rPr lang="en-GB"/>
              <a:t>Proposed Manufacturing Cost: $17/unit </a:t>
            </a:r>
            <a:endParaRPr/>
          </a:p>
          <a:p>
            <a:pPr marL="457200" lvl="0" indent="-311150" algn="l" rtl="0">
              <a:lnSpc>
                <a:spcPct val="150000"/>
              </a:lnSpc>
              <a:spcBef>
                <a:spcPts val="0"/>
              </a:spcBef>
              <a:spcAft>
                <a:spcPts val="0"/>
              </a:spcAft>
              <a:buSzPts val="1300"/>
              <a:buChar char="❖"/>
            </a:pPr>
            <a:r>
              <a:rPr lang="en-GB"/>
              <a:t>Setup Costs for Manufacturing: $400 (8hrs X $50/hr) </a:t>
            </a:r>
            <a:endParaRPr/>
          </a:p>
          <a:p>
            <a:pPr marL="457200" lvl="0" indent="-311150" algn="l" rtl="0">
              <a:lnSpc>
                <a:spcPct val="150000"/>
              </a:lnSpc>
              <a:spcBef>
                <a:spcPts val="0"/>
              </a:spcBef>
              <a:spcAft>
                <a:spcPts val="0"/>
              </a:spcAft>
              <a:buSzPts val="1300"/>
              <a:buChar char="❖"/>
            </a:pPr>
            <a:r>
              <a:rPr lang="en-GB"/>
              <a:t>Additional overheads from inventory management and purchasing processes </a:t>
            </a:r>
            <a:endParaRPr/>
          </a:p>
          <a:p>
            <a:pPr marL="0" lvl="0" indent="0" algn="l" rtl="0">
              <a:spcBef>
                <a:spcPts val="1600"/>
              </a:spcBef>
              <a:spcAft>
                <a:spcPts val="1600"/>
              </a:spcAft>
              <a:buNone/>
            </a:pPr>
            <a:endParaRPr sz="1000">
              <a:solidFill>
                <a:schemeClr val="lt1"/>
              </a:solidFill>
              <a:latin typeface="Montserrat Light"/>
              <a:ea typeface="Montserrat Light"/>
              <a:cs typeface="Montserrat Light"/>
              <a:sym typeface="Montserrat Light"/>
            </a:endParaRPr>
          </a:p>
        </p:txBody>
      </p:sp>
      <p:pic>
        <p:nvPicPr>
          <p:cNvPr id="277" name="Google Shape;277;p23"/>
          <p:cNvPicPr preferRelativeResize="0"/>
          <p:nvPr/>
        </p:nvPicPr>
        <p:blipFill>
          <a:blip r:embed="rId3">
            <a:alphaModFix/>
          </a:blip>
          <a:stretch>
            <a:fillRect/>
          </a:stretch>
        </p:blipFill>
        <p:spPr>
          <a:xfrm>
            <a:off x="8330225" y="96500"/>
            <a:ext cx="717675" cy="613025"/>
          </a:xfrm>
          <a:prstGeom prst="rect">
            <a:avLst/>
          </a:prstGeom>
          <a:noFill/>
          <a:ln>
            <a:noFill/>
          </a:ln>
        </p:spPr>
      </p:pic>
      <p:sp>
        <p:nvSpPr>
          <p:cNvPr id="278" name="Google Shape;278;p23"/>
          <p:cNvSpPr txBox="1"/>
          <p:nvPr/>
        </p:nvSpPr>
        <p:spPr>
          <a:xfrm>
            <a:off x="5590750" y="4070075"/>
            <a:ext cx="3457200" cy="8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the Business Problem </a:t>
            </a:r>
            <a:endParaRPr/>
          </a:p>
        </p:txBody>
      </p:sp>
      <p:sp>
        <p:nvSpPr>
          <p:cNvPr id="284" name="Google Shape;284;p24"/>
          <p:cNvSpPr txBox="1">
            <a:spLocks noGrp="1"/>
          </p:cNvSpPr>
          <p:nvPr>
            <p:ph type="body" idx="1"/>
          </p:nvPr>
        </p:nvSpPr>
        <p:spPr>
          <a:xfrm>
            <a:off x="3383425" y="1307850"/>
            <a:ext cx="5585400" cy="24549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Demand and Supply: </a:t>
            </a:r>
            <a:endParaRPr/>
          </a:p>
          <a:p>
            <a:pPr marL="457200" lvl="0" indent="-311150" algn="l" rtl="0">
              <a:lnSpc>
                <a:spcPct val="150000"/>
              </a:lnSpc>
              <a:spcBef>
                <a:spcPts val="1600"/>
              </a:spcBef>
              <a:spcAft>
                <a:spcPts val="0"/>
              </a:spcAft>
              <a:buSzPts val="1300"/>
              <a:buChar char="❖"/>
            </a:pPr>
            <a:r>
              <a:rPr lang="en-GB"/>
              <a:t>Annual demand: 3200 units </a:t>
            </a:r>
            <a:endParaRPr/>
          </a:p>
          <a:p>
            <a:pPr marL="457200" lvl="0" indent="-311150" algn="l" rtl="0">
              <a:lnSpc>
                <a:spcPct val="150000"/>
              </a:lnSpc>
              <a:spcBef>
                <a:spcPts val="0"/>
              </a:spcBef>
              <a:spcAft>
                <a:spcPts val="0"/>
              </a:spcAft>
              <a:buSzPts val="1300"/>
              <a:buChar char="❖"/>
            </a:pPr>
            <a:r>
              <a:rPr lang="en-GB"/>
              <a:t>Production capability: 1000 units/ month </a:t>
            </a:r>
            <a:endParaRPr/>
          </a:p>
          <a:p>
            <a:pPr marL="457200" lvl="0" indent="-311150" algn="l" rtl="0">
              <a:lnSpc>
                <a:spcPct val="150000"/>
              </a:lnSpc>
              <a:spcBef>
                <a:spcPts val="0"/>
              </a:spcBef>
              <a:spcAft>
                <a:spcPts val="0"/>
              </a:spcAft>
              <a:buSzPts val="1300"/>
              <a:buChar char="❖"/>
            </a:pPr>
            <a:r>
              <a:rPr lang="en-GB"/>
              <a:t>The lead time from the supplier: 1 week with a potential stock-out risk (mean demand=64 units, SD=10 units) </a:t>
            </a:r>
            <a:endParaRPr/>
          </a:p>
          <a:p>
            <a:pPr marL="457200" lvl="0" indent="-311150" algn="l" rtl="0">
              <a:lnSpc>
                <a:spcPct val="150000"/>
              </a:lnSpc>
              <a:spcBef>
                <a:spcPts val="0"/>
              </a:spcBef>
              <a:spcAft>
                <a:spcPts val="0"/>
              </a:spcAft>
              <a:buSzPts val="1300"/>
              <a:buChar char="❖"/>
            </a:pPr>
            <a:r>
              <a:rPr lang="en-GB"/>
              <a:t>In-house lead time: 2 weeks (mean demand= 128 units, SD= 20 units)</a:t>
            </a:r>
            <a:endParaRPr/>
          </a:p>
          <a:p>
            <a:pPr marL="0" lvl="0" indent="0" algn="l" rtl="0">
              <a:spcBef>
                <a:spcPts val="1600"/>
              </a:spcBef>
              <a:spcAft>
                <a:spcPts val="1600"/>
              </a:spcAft>
              <a:buNone/>
            </a:pPr>
            <a:endParaRPr/>
          </a:p>
        </p:txBody>
      </p:sp>
      <p:pic>
        <p:nvPicPr>
          <p:cNvPr id="285" name="Google Shape;285;p24"/>
          <p:cNvPicPr preferRelativeResize="0"/>
          <p:nvPr/>
        </p:nvPicPr>
        <p:blipFill>
          <a:blip r:embed="rId3">
            <a:alphaModFix/>
          </a:blip>
          <a:stretch>
            <a:fillRect/>
          </a:stretch>
        </p:blipFill>
        <p:spPr>
          <a:xfrm>
            <a:off x="8330225" y="96500"/>
            <a:ext cx="717675" cy="613025"/>
          </a:xfrm>
          <a:prstGeom prst="rect">
            <a:avLst/>
          </a:prstGeom>
          <a:noFill/>
          <a:ln>
            <a:noFill/>
          </a:ln>
        </p:spPr>
      </p:pic>
      <p:sp>
        <p:nvSpPr>
          <p:cNvPr id="286" name="Google Shape;286;p24"/>
          <p:cNvSpPr txBox="1"/>
          <p:nvPr/>
        </p:nvSpPr>
        <p:spPr>
          <a:xfrm>
            <a:off x="5210600" y="4047700"/>
            <a:ext cx="3813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latin typeface="Montserrat Light"/>
              <a:ea typeface="Montserrat Light"/>
              <a:cs typeface="Montserrat Light"/>
              <a:sym typeface="Montserrat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the Business Problem </a:t>
            </a:r>
            <a:endParaRPr/>
          </a:p>
        </p:txBody>
      </p:sp>
      <p:sp>
        <p:nvSpPr>
          <p:cNvPr id="292" name="Google Shape;292;p25"/>
          <p:cNvSpPr txBox="1">
            <a:spLocks noGrp="1"/>
          </p:cNvSpPr>
          <p:nvPr>
            <p:ph type="body" idx="1"/>
          </p:nvPr>
        </p:nvSpPr>
        <p:spPr>
          <a:xfrm>
            <a:off x="3383425" y="1307850"/>
            <a:ext cx="5585400" cy="24549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Inventory and Related Costs: </a:t>
            </a:r>
            <a:endParaRPr/>
          </a:p>
          <a:p>
            <a:pPr marL="457200" lvl="0" indent="-311150" algn="l" rtl="0">
              <a:lnSpc>
                <a:spcPct val="150000"/>
              </a:lnSpc>
              <a:spcBef>
                <a:spcPts val="1600"/>
              </a:spcBef>
              <a:spcAft>
                <a:spcPts val="0"/>
              </a:spcAft>
              <a:buSzPts val="1300"/>
              <a:buChar char="❖"/>
            </a:pPr>
            <a:r>
              <a:rPr lang="en-GB"/>
              <a:t>Average investment in inventory: $600,000 annually </a:t>
            </a:r>
            <a:endParaRPr/>
          </a:p>
          <a:p>
            <a:pPr marL="457200" lvl="0" indent="-311150" algn="l" rtl="0">
              <a:lnSpc>
                <a:spcPct val="150000"/>
              </a:lnSpc>
              <a:spcBef>
                <a:spcPts val="0"/>
              </a:spcBef>
              <a:spcAft>
                <a:spcPts val="0"/>
              </a:spcAft>
              <a:buSzPts val="1300"/>
              <a:buChar char="❖"/>
            </a:pPr>
            <a:r>
              <a:rPr lang="en-GB"/>
              <a:t>Associated costs: Taxes and insurance ($24,000), shrinkage losses ($9,000), warehouse overheads ($15,000)</a:t>
            </a:r>
            <a:endParaRPr/>
          </a:p>
          <a:p>
            <a:pPr marL="457200" lvl="0" indent="-311150" algn="l" rtl="0">
              <a:lnSpc>
                <a:spcPct val="150000"/>
              </a:lnSpc>
              <a:spcBef>
                <a:spcPts val="0"/>
              </a:spcBef>
              <a:spcAft>
                <a:spcPts val="0"/>
              </a:spcAft>
              <a:buSzPts val="1300"/>
              <a:buChar char="❖"/>
            </a:pPr>
            <a:r>
              <a:rPr lang="en-GB"/>
              <a:t>Purchasing operation costs: processing time costs ($28/hr for 2 hrs/order) and order-related expenses ($2,375/annually) </a:t>
            </a:r>
            <a:endParaRPr/>
          </a:p>
          <a:p>
            <a:pPr marL="0" lvl="0" indent="0" algn="l" rtl="0">
              <a:spcBef>
                <a:spcPts val="1600"/>
              </a:spcBef>
              <a:spcAft>
                <a:spcPts val="1600"/>
              </a:spcAft>
              <a:buNone/>
            </a:pPr>
            <a:endParaRPr/>
          </a:p>
        </p:txBody>
      </p:sp>
      <p:pic>
        <p:nvPicPr>
          <p:cNvPr id="293" name="Google Shape;293;p25"/>
          <p:cNvPicPr preferRelativeResize="0"/>
          <p:nvPr/>
        </p:nvPicPr>
        <p:blipFill>
          <a:blip r:embed="rId3">
            <a:alphaModFix/>
          </a:blip>
          <a:stretch>
            <a:fillRect/>
          </a:stretch>
        </p:blipFill>
        <p:spPr>
          <a:xfrm>
            <a:off x="8330225" y="96500"/>
            <a:ext cx="717675" cy="613025"/>
          </a:xfrm>
          <a:prstGeom prst="rect">
            <a:avLst/>
          </a:prstGeom>
          <a:noFill/>
          <a:ln>
            <a:noFill/>
          </a:ln>
        </p:spPr>
      </p:pic>
      <p:sp>
        <p:nvSpPr>
          <p:cNvPr id="294" name="Google Shape;294;p25"/>
          <p:cNvSpPr txBox="1"/>
          <p:nvPr/>
        </p:nvSpPr>
        <p:spPr>
          <a:xfrm>
            <a:off x="5177050" y="3634000"/>
            <a:ext cx="3868800" cy="14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latin typeface="Montserrat Light"/>
              <a:ea typeface="Montserrat Light"/>
              <a:cs typeface="Montserrat Light"/>
              <a:sym typeface="Montserrat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6"/>
          <p:cNvSpPr txBox="1">
            <a:spLocks noGrp="1"/>
          </p:cNvSpPr>
          <p:nvPr>
            <p:ph type="title"/>
          </p:nvPr>
        </p:nvSpPr>
        <p:spPr>
          <a:xfrm>
            <a:off x="1297500" y="393750"/>
            <a:ext cx="7613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Disadvantages, and Challenges </a:t>
            </a:r>
            <a:endParaRPr/>
          </a:p>
        </p:txBody>
      </p:sp>
      <p:sp>
        <p:nvSpPr>
          <p:cNvPr id="300" name="Google Shape;300;p26"/>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FFFFFF"/>
                </a:solidFill>
              </a:rPr>
              <a:t>Benefits: </a:t>
            </a:r>
            <a:endParaRPr>
              <a:solidFill>
                <a:srgbClr val="FFFFFF"/>
              </a:solidFill>
            </a:endParaRPr>
          </a:p>
          <a:p>
            <a:pPr marL="457200" lvl="0" indent="-311150" algn="l" rtl="0">
              <a:lnSpc>
                <a:spcPct val="150000"/>
              </a:lnSpc>
              <a:spcBef>
                <a:spcPts val="1600"/>
              </a:spcBef>
              <a:spcAft>
                <a:spcPts val="0"/>
              </a:spcAft>
              <a:buClr>
                <a:srgbClr val="FFFFFF"/>
              </a:buClr>
              <a:buSzPts val="1300"/>
              <a:buChar char="❖"/>
            </a:pPr>
            <a:r>
              <a:rPr lang="en-GB">
                <a:solidFill>
                  <a:srgbClr val="FFFFFF"/>
                </a:solidFill>
              </a:rPr>
              <a:t>Reduced unit cost by $1/ unit could lead to annual savings of $3200</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Increased control over production scheduling and quality </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Potential for further cost reductions as efficiencies improve </a:t>
            </a:r>
            <a:endParaRPr>
              <a:solidFill>
                <a:srgbClr val="FFFFFF"/>
              </a:solidFill>
            </a:endParaRPr>
          </a:p>
        </p:txBody>
      </p:sp>
      <p:sp>
        <p:nvSpPr>
          <p:cNvPr id="301" name="Google Shape;301;p26"/>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02" name="Google Shape;302;p26"/>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7"/>
          <p:cNvSpPr txBox="1">
            <a:spLocks noGrp="1"/>
          </p:cNvSpPr>
          <p:nvPr>
            <p:ph type="title"/>
          </p:nvPr>
        </p:nvSpPr>
        <p:spPr>
          <a:xfrm>
            <a:off x="1297500" y="393750"/>
            <a:ext cx="7613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Disadvantages, and Challenges </a:t>
            </a:r>
            <a:endParaRPr/>
          </a:p>
        </p:txBody>
      </p:sp>
      <p:sp>
        <p:nvSpPr>
          <p:cNvPr id="308" name="Google Shape;308;p2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FFFFFF"/>
                </a:solidFill>
              </a:rPr>
              <a:t>Disadvantages: </a:t>
            </a:r>
            <a:endParaRPr>
              <a:solidFill>
                <a:srgbClr val="FFFFFF"/>
              </a:solidFill>
            </a:endParaRPr>
          </a:p>
          <a:p>
            <a:pPr marL="457200" lvl="0" indent="-311150" algn="l" rtl="0">
              <a:lnSpc>
                <a:spcPct val="150000"/>
              </a:lnSpc>
              <a:spcBef>
                <a:spcPts val="1600"/>
              </a:spcBef>
              <a:spcAft>
                <a:spcPts val="0"/>
              </a:spcAft>
              <a:buClr>
                <a:srgbClr val="FFFFFF"/>
              </a:buClr>
              <a:buSzPts val="1300"/>
              <a:buChar char="❖"/>
            </a:pPr>
            <a:r>
              <a:rPr lang="en-GB">
                <a:solidFill>
                  <a:srgbClr val="FFFFFF"/>
                </a:solidFill>
              </a:rPr>
              <a:t>Substantial setup costs that may offset the cost savings on a per-unit basis </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Increased inventory holding risks and associated costs due to a longer lead time in manufacturing </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Utilization of production capacity that might be needed for other products</a:t>
            </a:r>
            <a:endParaRPr>
              <a:solidFill>
                <a:srgbClr val="FFFFFF"/>
              </a:solidFill>
            </a:endParaRPr>
          </a:p>
        </p:txBody>
      </p:sp>
      <p:sp>
        <p:nvSpPr>
          <p:cNvPr id="309" name="Google Shape;309;p27"/>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10" name="Google Shape;310;p27"/>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8"/>
          <p:cNvSpPr txBox="1">
            <a:spLocks noGrp="1"/>
          </p:cNvSpPr>
          <p:nvPr>
            <p:ph type="title"/>
          </p:nvPr>
        </p:nvSpPr>
        <p:spPr>
          <a:xfrm>
            <a:off x="1297500" y="393750"/>
            <a:ext cx="7613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Disadvantages, and Challenges </a:t>
            </a:r>
            <a:endParaRPr/>
          </a:p>
        </p:txBody>
      </p:sp>
      <p:sp>
        <p:nvSpPr>
          <p:cNvPr id="316" name="Google Shape;316;p28"/>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FFFFFF"/>
                </a:solidFill>
              </a:rPr>
              <a:t>Challenges: </a:t>
            </a:r>
            <a:endParaRPr>
              <a:solidFill>
                <a:srgbClr val="FFFFFF"/>
              </a:solidFill>
            </a:endParaRPr>
          </a:p>
          <a:p>
            <a:pPr marL="457200" lvl="0" indent="-311150" algn="l" rtl="0">
              <a:lnSpc>
                <a:spcPct val="150000"/>
              </a:lnSpc>
              <a:spcBef>
                <a:spcPts val="1600"/>
              </a:spcBef>
              <a:spcAft>
                <a:spcPts val="0"/>
              </a:spcAft>
              <a:buClr>
                <a:srgbClr val="FFFFFF"/>
              </a:buClr>
              <a:buSzPts val="1300"/>
              <a:buChar char="❖"/>
            </a:pPr>
            <a:r>
              <a:rPr lang="en-GB">
                <a:solidFill>
                  <a:srgbClr val="FFFFFF"/>
                </a:solidFill>
              </a:rPr>
              <a:t>Managing the increased complexity of production scheduling</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Balancing inventory levels to avoid stock-outs while minimizing holding costs </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Ensuring that setup times and costs do not erode the benefits of in-house production </a:t>
            </a:r>
            <a:endParaRPr>
              <a:solidFill>
                <a:srgbClr val="FFFFFF"/>
              </a:solidFill>
            </a:endParaRPr>
          </a:p>
        </p:txBody>
      </p:sp>
      <p:sp>
        <p:nvSpPr>
          <p:cNvPr id="317" name="Google Shape;317;p28"/>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18" name="Google Shape;318;p28"/>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9"/>
          <p:cNvSpPr txBox="1">
            <a:spLocks noGrp="1"/>
          </p:cNvSpPr>
          <p:nvPr>
            <p:ph type="title"/>
          </p:nvPr>
        </p:nvSpPr>
        <p:spPr>
          <a:xfrm>
            <a:off x="1297500" y="393750"/>
            <a:ext cx="7613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Recommendations</a:t>
            </a:r>
            <a:endParaRPr/>
          </a:p>
        </p:txBody>
      </p:sp>
      <p:sp>
        <p:nvSpPr>
          <p:cNvPr id="324" name="Google Shape;324;p29"/>
          <p:cNvSpPr txBox="1">
            <a:spLocks noGrp="1"/>
          </p:cNvSpPr>
          <p:nvPr>
            <p:ph type="body" idx="1"/>
          </p:nvPr>
        </p:nvSpPr>
        <p:spPr>
          <a:xfrm>
            <a:off x="1297500" y="1272550"/>
            <a:ext cx="3798900" cy="24159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Clr>
                <a:srgbClr val="FFFFFF"/>
              </a:buClr>
              <a:buSzPts val="1300"/>
              <a:buChar char="❖"/>
            </a:pPr>
            <a:r>
              <a:rPr lang="en-GB">
                <a:solidFill>
                  <a:srgbClr val="FFFFFF"/>
                </a:solidFill>
              </a:rPr>
              <a:t>Pilot Production Run</a:t>
            </a:r>
            <a:endParaRPr>
              <a:solidFill>
                <a:srgbClr val="FFFFFF"/>
              </a:solidFill>
            </a:endParaRPr>
          </a:p>
          <a:p>
            <a:pPr marL="914400" lvl="1" indent="-298450" algn="l" rtl="0">
              <a:lnSpc>
                <a:spcPct val="150000"/>
              </a:lnSpc>
              <a:spcBef>
                <a:spcPts val="0"/>
              </a:spcBef>
              <a:spcAft>
                <a:spcPts val="0"/>
              </a:spcAft>
              <a:buClr>
                <a:srgbClr val="FFFFFF"/>
              </a:buClr>
              <a:buSzPts val="1100"/>
              <a:buChar char="➢"/>
            </a:pPr>
            <a:r>
              <a:rPr lang="en-GB">
                <a:solidFill>
                  <a:srgbClr val="FFFFFF"/>
                </a:solidFill>
              </a:rPr>
              <a:t>Conduct a limited production run to better understand the real costs and implications of in-house manufacturing. This will provide data on actual setup times, production rates, and potential issues. </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Cost-Benefit Analysis Post-Pilot</a:t>
            </a:r>
            <a:endParaRPr>
              <a:solidFill>
                <a:srgbClr val="FFFFFF"/>
              </a:solidFill>
            </a:endParaRPr>
          </a:p>
          <a:p>
            <a:pPr marL="914400" lvl="1" indent="-298450" algn="l" rtl="0">
              <a:lnSpc>
                <a:spcPct val="150000"/>
              </a:lnSpc>
              <a:spcBef>
                <a:spcPts val="0"/>
              </a:spcBef>
              <a:spcAft>
                <a:spcPts val="0"/>
              </a:spcAft>
              <a:buClr>
                <a:srgbClr val="FFFFFF"/>
              </a:buClr>
              <a:buSzPts val="1100"/>
              <a:buChar char="➢"/>
            </a:pPr>
            <a:r>
              <a:rPr lang="en-GB">
                <a:solidFill>
                  <a:srgbClr val="FFFFFF"/>
                </a:solidFill>
              </a:rPr>
              <a:t>After the pilot, perform a comprehensive cost-benefit analysis comparing the actual costs of in-house production against purchasing, taking into account setup times, production efficiencies, and inventory costs. </a:t>
            </a:r>
            <a:endParaRPr>
              <a:solidFill>
                <a:srgbClr val="FFFFFF"/>
              </a:solidFill>
            </a:endParaRPr>
          </a:p>
        </p:txBody>
      </p:sp>
      <p:sp>
        <p:nvSpPr>
          <p:cNvPr id="325" name="Google Shape;325;p29"/>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26" name="Google Shape;326;p29"/>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0"/>
          <p:cNvSpPr txBox="1">
            <a:spLocks noGrp="1"/>
          </p:cNvSpPr>
          <p:nvPr>
            <p:ph type="title"/>
          </p:nvPr>
        </p:nvSpPr>
        <p:spPr>
          <a:xfrm>
            <a:off x="1297500" y="393750"/>
            <a:ext cx="7613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Recommendations</a:t>
            </a:r>
            <a:endParaRPr/>
          </a:p>
        </p:txBody>
      </p:sp>
      <p:sp>
        <p:nvSpPr>
          <p:cNvPr id="332" name="Google Shape;332;p30"/>
          <p:cNvSpPr txBox="1">
            <a:spLocks noGrp="1"/>
          </p:cNvSpPr>
          <p:nvPr>
            <p:ph type="body" idx="1"/>
          </p:nvPr>
        </p:nvSpPr>
        <p:spPr>
          <a:xfrm>
            <a:off x="1297500" y="1272550"/>
            <a:ext cx="3798900" cy="24159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Clr>
                <a:srgbClr val="FFFFFF"/>
              </a:buClr>
              <a:buSzPts val="1300"/>
              <a:buChar char="❖"/>
            </a:pPr>
            <a:r>
              <a:rPr lang="en-GB">
                <a:solidFill>
                  <a:srgbClr val="FFFFFF"/>
                </a:solidFill>
              </a:rPr>
              <a:t>Inventory Strategy Optimization</a:t>
            </a:r>
            <a:endParaRPr>
              <a:solidFill>
                <a:srgbClr val="FFFFFF"/>
              </a:solidFill>
            </a:endParaRPr>
          </a:p>
          <a:p>
            <a:pPr marL="914400" lvl="1" indent="-298450" algn="l" rtl="0">
              <a:lnSpc>
                <a:spcPct val="150000"/>
              </a:lnSpc>
              <a:spcBef>
                <a:spcPts val="0"/>
              </a:spcBef>
              <a:spcAft>
                <a:spcPts val="0"/>
              </a:spcAft>
              <a:buClr>
                <a:srgbClr val="FFFFFF"/>
              </a:buClr>
              <a:buSzPts val="1100"/>
              <a:buChar char="➢"/>
            </a:pPr>
            <a:r>
              <a:rPr lang="en-GB">
                <a:solidFill>
                  <a:srgbClr val="FFFFFF"/>
                </a:solidFill>
              </a:rPr>
              <a:t>Implement an inventory management strategy that uses ‘Just-In-Time’ principles to minimize holding costs and reduce the risk of excess inventory. </a:t>
            </a:r>
            <a:endParaRPr>
              <a:solidFill>
                <a:srgbClr val="FFFFFF"/>
              </a:solidFill>
            </a:endParaRPr>
          </a:p>
          <a:p>
            <a:pPr marL="457200" lvl="0" indent="-311150" algn="l" rtl="0">
              <a:lnSpc>
                <a:spcPct val="150000"/>
              </a:lnSpc>
              <a:spcBef>
                <a:spcPts val="0"/>
              </a:spcBef>
              <a:spcAft>
                <a:spcPts val="0"/>
              </a:spcAft>
              <a:buClr>
                <a:srgbClr val="FFFFFF"/>
              </a:buClr>
              <a:buSzPts val="1300"/>
              <a:buChar char="❖"/>
            </a:pPr>
            <a:r>
              <a:rPr lang="en-GB">
                <a:solidFill>
                  <a:srgbClr val="FFFFFF"/>
                </a:solidFill>
              </a:rPr>
              <a:t>Capacity Utilization Review </a:t>
            </a:r>
            <a:endParaRPr>
              <a:solidFill>
                <a:srgbClr val="FFFFFF"/>
              </a:solidFill>
            </a:endParaRPr>
          </a:p>
          <a:p>
            <a:pPr marL="914400" lvl="1" indent="-298450" algn="l" rtl="0">
              <a:lnSpc>
                <a:spcPct val="150000"/>
              </a:lnSpc>
              <a:spcBef>
                <a:spcPts val="0"/>
              </a:spcBef>
              <a:spcAft>
                <a:spcPts val="0"/>
              </a:spcAft>
              <a:buClr>
                <a:srgbClr val="FFFFFF"/>
              </a:buClr>
              <a:buSzPts val="1100"/>
              <a:buChar char="➢"/>
            </a:pPr>
            <a:r>
              <a:rPr lang="en-GB">
                <a:solidFill>
                  <a:srgbClr val="FFFFFF"/>
                </a:solidFill>
              </a:rPr>
              <a:t>Regularly review production capacity utilization to ensure that there is no adverse impact on the production of other parts or products. </a:t>
            </a:r>
            <a:endParaRPr>
              <a:solidFill>
                <a:srgbClr val="FFFFFF"/>
              </a:solidFill>
            </a:endParaRPr>
          </a:p>
        </p:txBody>
      </p:sp>
      <p:sp>
        <p:nvSpPr>
          <p:cNvPr id="333" name="Google Shape;333;p30"/>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34" name="Google Shape;334;p30"/>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1"/>
          <p:cNvSpPr txBox="1">
            <a:spLocks noGrp="1"/>
          </p:cNvSpPr>
          <p:nvPr>
            <p:ph type="title"/>
          </p:nvPr>
        </p:nvSpPr>
        <p:spPr>
          <a:xfrm>
            <a:off x="1297500" y="393750"/>
            <a:ext cx="76131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Recommendations</a:t>
            </a:r>
            <a:endParaRPr/>
          </a:p>
        </p:txBody>
      </p:sp>
      <p:sp>
        <p:nvSpPr>
          <p:cNvPr id="340" name="Google Shape;340;p31"/>
          <p:cNvSpPr txBox="1">
            <a:spLocks noGrp="1"/>
          </p:cNvSpPr>
          <p:nvPr>
            <p:ph type="body" idx="1"/>
          </p:nvPr>
        </p:nvSpPr>
        <p:spPr>
          <a:xfrm>
            <a:off x="1297500" y="1272550"/>
            <a:ext cx="3798900" cy="24159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Clr>
                <a:srgbClr val="FFFFFF"/>
              </a:buClr>
              <a:buSzPts val="1300"/>
              <a:buChar char="❖"/>
            </a:pPr>
            <a:r>
              <a:rPr lang="en-GB">
                <a:solidFill>
                  <a:srgbClr val="FFFFFF"/>
                </a:solidFill>
              </a:rPr>
              <a:t>Negotiation with Current Suppliers </a:t>
            </a:r>
            <a:endParaRPr>
              <a:solidFill>
                <a:srgbClr val="FFFFFF"/>
              </a:solidFill>
            </a:endParaRPr>
          </a:p>
          <a:p>
            <a:pPr marL="914400" lvl="1" indent="-298450" algn="l" rtl="0">
              <a:lnSpc>
                <a:spcPct val="150000"/>
              </a:lnSpc>
              <a:spcBef>
                <a:spcPts val="0"/>
              </a:spcBef>
              <a:spcAft>
                <a:spcPts val="0"/>
              </a:spcAft>
              <a:buClr>
                <a:srgbClr val="FFFFFF"/>
              </a:buClr>
              <a:buSzPts val="1100"/>
              <a:buChar char="➢"/>
            </a:pPr>
            <a:r>
              <a:rPr lang="en-GB">
                <a:solidFill>
                  <a:srgbClr val="FFFFFF"/>
                </a:solidFill>
              </a:rPr>
              <a:t>Explore opportunities to renegotiate the purchasing cost with the supplier, using the potential shift to in-house production as leverage. </a:t>
            </a:r>
            <a:endParaRPr>
              <a:solidFill>
                <a:srgbClr val="FFFFFF"/>
              </a:solidFill>
            </a:endParaRPr>
          </a:p>
          <a:p>
            <a:pPr marL="0" lvl="0" indent="0" algn="l" rtl="0">
              <a:lnSpc>
                <a:spcPct val="150000"/>
              </a:lnSpc>
              <a:spcBef>
                <a:spcPts val="1600"/>
              </a:spcBef>
              <a:spcAft>
                <a:spcPts val="1600"/>
              </a:spcAft>
              <a:buNone/>
            </a:pPr>
            <a:r>
              <a:rPr lang="en-GB">
                <a:solidFill>
                  <a:srgbClr val="FFFFFF"/>
                </a:solidFill>
              </a:rPr>
              <a:t>By following these recommendations, Wagner Fabricating Company can make a well-informed decision that balances cost, control, and risk. Thereby enhancing its competitive position and profitability in the market. </a:t>
            </a:r>
            <a:endParaRPr>
              <a:solidFill>
                <a:srgbClr val="FFFFFF"/>
              </a:solidFill>
            </a:endParaRPr>
          </a:p>
        </p:txBody>
      </p:sp>
      <p:sp>
        <p:nvSpPr>
          <p:cNvPr id="341" name="Google Shape;341;p31"/>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42" name="Google Shape;342;p31"/>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2"/>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Case 2: Lawsuit Defense Strategy for Chay Construction Company </a:t>
            </a:r>
            <a:endParaRPr/>
          </a:p>
        </p:txBody>
      </p:sp>
      <p:sp>
        <p:nvSpPr>
          <p:cNvPr id="348" name="Google Shape;348;p32"/>
          <p:cNvSpPr txBox="1">
            <a:spLocks noGrp="1"/>
          </p:cNvSpPr>
          <p:nvPr>
            <p:ph type="body" idx="1"/>
          </p:nvPr>
        </p:nvSpPr>
        <p:spPr>
          <a:xfrm>
            <a:off x="1358300" y="1764650"/>
            <a:ext cx="5682300" cy="19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Montserrat Medium"/>
                <a:ea typeface="Montserrat Medium"/>
                <a:cs typeface="Montserrat Medium"/>
                <a:sym typeface="Montserrat Medium"/>
              </a:rPr>
              <a:t>John Campbell, an employee of Chay Construction Company, sued Doug Reynolds, owner of Eastview Apartments, for $1,500,000 citing injury from a fall caused by unreported roof decay. Allied Insurance, Reynolds' insurer, faces a decision as Campbell offered to settle for $750,000, while Allied contemplates a $400,000 counteroffer. Allied's assessment indicates three potential responses from Campbell: accept the $400,000, reject it and go to trial, or counteroffer $600,000, which Allied must either accept or contest in court. At trial, probabilities suggest the jury might either award nothing, $750,000, or the full $1,500,000. Allied’s decision hinges on these probabilities and the potential cost outcomes of each scenario.</a:t>
            </a: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349" name="Google Shape;349;p32"/>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50" name="Google Shape;350;p32"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351" name="Google Shape;351;p32"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352" name="Google Shape;352;p32"/>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3"/>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Business Problem </a:t>
            </a:r>
            <a:endParaRPr/>
          </a:p>
        </p:txBody>
      </p:sp>
      <p:sp>
        <p:nvSpPr>
          <p:cNvPr id="358" name="Google Shape;358;p33"/>
          <p:cNvSpPr txBox="1">
            <a:spLocks noGrp="1"/>
          </p:cNvSpPr>
          <p:nvPr>
            <p:ph type="body" idx="1"/>
          </p:nvPr>
        </p:nvSpPr>
        <p:spPr>
          <a:xfrm>
            <a:off x="1358300" y="1764650"/>
            <a:ext cx="5682300" cy="19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Montserrat Medium"/>
                <a:ea typeface="Montserrat Medium"/>
                <a:cs typeface="Montserrat Medium"/>
                <a:sym typeface="Montserrat Medium"/>
              </a:rPr>
              <a:t>Allied Insurance, representing Doug Reynolds, owner of Eastview Apartments, faces a lawsuit from John Campbell, a construction worker claiming damages for a fall caused by allegedly unsafe conditions. John initially demanded $1,500,000 but has offered to settle for $750,000. Allied Insurance is considering a counteroffer of $400,000, weighing the potential outcomes of settlement negotiations or a jury trial.</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359" name="Google Shape;359;p33"/>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60" name="Google Shape;360;p33"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361" name="Google Shape;361;p33"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362" name="Google Shape;362;p33"/>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4"/>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Business Problem </a:t>
            </a:r>
            <a:endParaRPr/>
          </a:p>
        </p:txBody>
      </p:sp>
      <p:sp>
        <p:nvSpPr>
          <p:cNvPr id="368" name="Google Shape;368;p34"/>
          <p:cNvSpPr txBox="1">
            <a:spLocks noGrp="1"/>
          </p:cNvSpPr>
          <p:nvPr>
            <p:ph type="body" idx="1"/>
          </p:nvPr>
        </p:nvSpPr>
        <p:spPr>
          <a:xfrm>
            <a:off x="1358300" y="1764650"/>
            <a:ext cx="5682300" cy="1938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Initial Claim and Settlement Offers: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John Campbell’s Claim: $1,500,000</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Settlement offer by John: $750,000</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Allied’s Potential Counteroffer: $400,000</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369" name="Google Shape;369;p34"/>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70" name="Google Shape;370;p34"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371" name="Google Shape;371;p34"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372" name="Google Shape;372;p34"/>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5"/>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Business Problem </a:t>
            </a:r>
            <a:endParaRPr/>
          </a:p>
        </p:txBody>
      </p:sp>
      <p:sp>
        <p:nvSpPr>
          <p:cNvPr id="378" name="Google Shape;378;p35"/>
          <p:cNvSpPr txBox="1">
            <a:spLocks noGrp="1"/>
          </p:cNvSpPr>
          <p:nvPr>
            <p:ph type="body" idx="1"/>
          </p:nvPr>
        </p:nvSpPr>
        <p:spPr>
          <a:xfrm>
            <a:off x="1358300" y="1764650"/>
            <a:ext cx="5682300" cy="1938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Possible Outcomes and Probabilities: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John accepts $400,000: Probability = 10%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John rejects and opts for trial: Probability= 40%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John counters with $600,000: Probability =50% </a:t>
            </a:r>
            <a:endParaRPr sz="1200">
              <a:latin typeface="Montserrat Medium"/>
              <a:ea typeface="Montserrat Medium"/>
              <a:cs typeface="Montserrat Medium"/>
              <a:sym typeface="Montserrat Medium"/>
            </a:endParaRPr>
          </a:p>
          <a:p>
            <a:pPr marL="0" lvl="0" indent="0" algn="l" rtl="0">
              <a:lnSpc>
                <a:spcPct val="150000"/>
              </a:lnSpc>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If going to trial: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Jury awards $0: Probability =20%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Jury awards $750,000: Probability =50%</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Jury awards $1,500,00: Probability =30% </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379" name="Google Shape;379;p35"/>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80" name="Google Shape;380;p35"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381" name="Google Shape;381;p35"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382" name="Google Shape;382;p35"/>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6"/>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Analysis of Business Problem </a:t>
            </a:r>
            <a:endParaRPr/>
          </a:p>
        </p:txBody>
      </p:sp>
      <p:sp>
        <p:nvSpPr>
          <p:cNvPr id="388" name="Google Shape;388;p36"/>
          <p:cNvSpPr txBox="1">
            <a:spLocks noGrp="1"/>
          </p:cNvSpPr>
          <p:nvPr>
            <p:ph type="body" idx="1"/>
          </p:nvPr>
        </p:nvSpPr>
        <p:spPr>
          <a:xfrm>
            <a:off x="105475" y="1886850"/>
            <a:ext cx="6588600" cy="1938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Strategic Considerations: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Expected Monetary Values</a:t>
            </a:r>
            <a:endParaRPr sz="1200">
              <a:latin typeface="Montserrat Medium"/>
              <a:ea typeface="Montserrat Medium"/>
              <a:cs typeface="Montserrat Medium"/>
              <a:sym typeface="Montserrat Medium"/>
            </a:endParaRPr>
          </a:p>
          <a:p>
            <a:pPr marL="914400" lvl="1"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Accept John’s $750,000 settlement: Cost =$750,000</a:t>
            </a:r>
            <a:endParaRPr sz="1200">
              <a:latin typeface="Montserrat Medium"/>
              <a:ea typeface="Montserrat Medium"/>
              <a:cs typeface="Montserrat Medium"/>
              <a:sym typeface="Montserrat Medium"/>
            </a:endParaRPr>
          </a:p>
          <a:p>
            <a:pPr marL="914400" lvl="1"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Counteroffer at $400,000: </a:t>
            </a:r>
            <a:endParaRPr sz="1200">
              <a:latin typeface="Montserrat Medium"/>
              <a:ea typeface="Montserrat Medium"/>
              <a:cs typeface="Montserrat Medium"/>
              <a:sym typeface="Montserrat Medium"/>
            </a:endParaRPr>
          </a:p>
          <a:p>
            <a:pPr marL="1371600" lvl="2"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EMV if John accepts = $400,00 * 0.10 = $40,000</a:t>
            </a:r>
            <a:endParaRPr sz="1200">
              <a:latin typeface="Montserrat Medium"/>
              <a:ea typeface="Montserrat Medium"/>
              <a:cs typeface="Montserrat Medium"/>
              <a:sym typeface="Montserrat Medium"/>
            </a:endParaRPr>
          </a:p>
          <a:p>
            <a:pPr marL="1371600" lvl="2"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EMV if john counters = $600,000 *0.50 = $300,000</a:t>
            </a:r>
            <a:endParaRPr sz="1200">
              <a:latin typeface="Montserrat Medium"/>
              <a:ea typeface="Montserrat Medium"/>
              <a:cs typeface="Montserrat Medium"/>
              <a:sym typeface="Montserrat Medium"/>
            </a:endParaRPr>
          </a:p>
          <a:p>
            <a:pPr marL="1371600" lvl="2"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EMV if goes to trial = ($0*0.20) + ($750,000*0.50) + ($1,500,000*0.30) = $825,000*0.40 = $330,000</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Total EMV of Counter Offer= $40,000 + $330,000 + $330,000 = $670,000 (averaged over probable outcomes)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389" name="Google Shape;389;p36"/>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390" name="Google Shape;390;p36"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391" name="Google Shape;391;p36"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392" name="Google Shape;392;p36"/>
          <p:cNvPicPr preferRelativeResize="0"/>
          <p:nvPr/>
        </p:nvPicPr>
        <p:blipFill>
          <a:blip r:embed="rId4">
            <a:alphaModFix/>
          </a:blip>
          <a:stretch>
            <a:fillRect/>
          </a:stretch>
        </p:blipFill>
        <p:spPr>
          <a:xfrm>
            <a:off x="8330225" y="96500"/>
            <a:ext cx="717675" cy="613025"/>
          </a:xfrm>
          <a:prstGeom prst="rect">
            <a:avLst/>
          </a:prstGeom>
          <a:noFill/>
          <a:ln>
            <a:noFill/>
          </a:ln>
        </p:spPr>
      </p:pic>
      <p:pic>
        <p:nvPicPr>
          <p:cNvPr id="393" name="Google Shape;393;p36"/>
          <p:cNvPicPr preferRelativeResize="0"/>
          <p:nvPr/>
        </p:nvPicPr>
        <p:blipFill>
          <a:blip r:embed="rId5">
            <a:alphaModFix/>
          </a:blip>
          <a:stretch>
            <a:fillRect/>
          </a:stretch>
        </p:blipFill>
        <p:spPr>
          <a:xfrm>
            <a:off x="3226750" y="1084625"/>
            <a:ext cx="5748027" cy="950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7"/>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Disadvantages, Challenges</a:t>
            </a:r>
            <a:endParaRPr/>
          </a:p>
        </p:txBody>
      </p:sp>
      <p:sp>
        <p:nvSpPr>
          <p:cNvPr id="399" name="Google Shape;399;p37"/>
          <p:cNvSpPr txBox="1">
            <a:spLocks noGrp="1"/>
          </p:cNvSpPr>
          <p:nvPr>
            <p:ph type="body" idx="1"/>
          </p:nvPr>
        </p:nvSpPr>
        <p:spPr>
          <a:xfrm>
            <a:off x="452000" y="1753475"/>
            <a:ext cx="6588600" cy="1938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Benefits: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Cost Savings: Potential to save on payout if John accepts the counteroffer or settles for $600,000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Control of Narrative: Managing the narrative and potentially influencing jury perception by demonstrating willingness to negotiate.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400" name="Google Shape;400;p37"/>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401" name="Google Shape;401;p37"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402" name="Google Shape;402;p37"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403" name="Google Shape;403;p37"/>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8"/>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Disadvantages, Challenges</a:t>
            </a:r>
            <a:endParaRPr/>
          </a:p>
        </p:txBody>
      </p:sp>
      <p:sp>
        <p:nvSpPr>
          <p:cNvPr id="409" name="Google Shape;409;p38"/>
          <p:cNvSpPr txBox="1">
            <a:spLocks noGrp="1"/>
          </p:cNvSpPr>
          <p:nvPr>
            <p:ph type="body" idx="1"/>
          </p:nvPr>
        </p:nvSpPr>
        <p:spPr>
          <a:xfrm>
            <a:off x="452100" y="1764650"/>
            <a:ext cx="6588600" cy="1938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Disadvantages: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High Risk: Significant risk of high payout if the case goes to trial and the jury awards the higher amounts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Public Relations: Potential negative PR from appearing to undervalue worker safety</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410" name="Google Shape;410;p38"/>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411" name="Google Shape;411;p38"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412" name="Google Shape;412;p38"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413" name="Google Shape;413;p38"/>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9"/>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Disadvantages, Challenges</a:t>
            </a:r>
            <a:endParaRPr/>
          </a:p>
        </p:txBody>
      </p:sp>
      <p:sp>
        <p:nvSpPr>
          <p:cNvPr id="419" name="Google Shape;419;p39"/>
          <p:cNvSpPr txBox="1">
            <a:spLocks noGrp="1"/>
          </p:cNvSpPr>
          <p:nvPr>
            <p:ph type="body" idx="1"/>
          </p:nvPr>
        </p:nvSpPr>
        <p:spPr>
          <a:xfrm>
            <a:off x="452100" y="1764650"/>
            <a:ext cx="6588600" cy="1938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GB" sz="1200">
                <a:latin typeface="Montserrat Medium"/>
                <a:ea typeface="Montserrat Medium"/>
                <a:cs typeface="Montserrat Medium"/>
                <a:sym typeface="Montserrat Medium"/>
              </a:rPr>
              <a:t>Challenges: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Uncertainty in Jury Decision: High variability in possible trial outcomes. </a:t>
            </a:r>
            <a:endParaRPr sz="1200">
              <a:latin typeface="Montserrat Medium"/>
              <a:ea typeface="Montserrat Medium"/>
              <a:cs typeface="Montserrat Medium"/>
              <a:sym typeface="Montserrat Medium"/>
            </a:endParaRPr>
          </a:p>
          <a:p>
            <a:pPr marL="457200" lvl="0" indent="-304800" algn="l" rtl="0">
              <a:lnSpc>
                <a:spcPct val="150000"/>
              </a:lnSpc>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Negotiation Dynamics: Managing the psychological and strategic aspects of negotiation with John.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420" name="Google Shape;420;p39"/>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421" name="Google Shape;421;p39"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422" name="Google Shape;422;p39"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423" name="Google Shape;423;p39"/>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40"/>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Recommendations</a:t>
            </a:r>
            <a:endParaRPr/>
          </a:p>
        </p:txBody>
      </p:sp>
      <p:sp>
        <p:nvSpPr>
          <p:cNvPr id="429" name="Google Shape;429;p40"/>
          <p:cNvSpPr txBox="1">
            <a:spLocks noGrp="1"/>
          </p:cNvSpPr>
          <p:nvPr>
            <p:ph type="body" idx="1"/>
          </p:nvPr>
        </p:nvSpPr>
        <p:spPr>
          <a:xfrm>
            <a:off x="452100" y="1764650"/>
            <a:ext cx="6588600" cy="19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Montserrat Medium"/>
                <a:ea typeface="Montserrat Medium"/>
                <a:cs typeface="Montserrat Medium"/>
                <a:sym typeface="Montserrat Medium"/>
              </a:rPr>
              <a:t>Counter offer Strategy: </a:t>
            </a:r>
            <a:endParaRPr sz="1200">
              <a:latin typeface="Montserrat Medium"/>
              <a:ea typeface="Montserrat Medium"/>
              <a:cs typeface="Montserrat Medium"/>
              <a:sym typeface="Montserrat Medium"/>
            </a:endParaRPr>
          </a:p>
          <a:p>
            <a:pPr marL="457200" lvl="0" indent="-304800" algn="l" rtl="0">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Proceed with the counter offer of $400,000. This strategy allows for potential cost savings while testing John’s willingness to settle at a lower amount.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r>
              <a:rPr lang="en-GB" sz="1200">
                <a:latin typeface="Montserrat Medium"/>
                <a:ea typeface="Montserrat Medium"/>
                <a:cs typeface="Montserrat Medium"/>
                <a:sym typeface="Montserrat Medium"/>
              </a:rPr>
              <a:t>Prepare for Counter-counter off: </a:t>
            </a:r>
            <a:endParaRPr sz="1200">
              <a:latin typeface="Montserrat Medium"/>
              <a:ea typeface="Montserrat Medium"/>
              <a:cs typeface="Montserrat Medium"/>
              <a:sym typeface="Montserrat Medium"/>
            </a:endParaRPr>
          </a:p>
          <a:p>
            <a:pPr marL="457200" lvl="0" indent="-304800" algn="l" rtl="0">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Be prepared to accept a counter offer from John of $600,000, as it presents a reasonable middle ground and further reduces the risk compared to a jury trial.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430" name="Google Shape;430;p40"/>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431" name="Google Shape;431;p40"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432" name="Google Shape;432;p40"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433" name="Google Shape;433;p40"/>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1"/>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Recommendations</a:t>
            </a:r>
            <a:endParaRPr/>
          </a:p>
        </p:txBody>
      </p:sp>
      <p:sp>
        <p:nvSpPr>
          <p:cNvPr id="439" name="Google Shape;439;p41"/>
          <p:cNvSpPr txBox="1">
            <a:spLocks noGrp="1"/>
          </p:cNvSpPr>
          <p:nvPr>
            <p:ph type="body" idx="1"/>
          </p:nvPr>
        </p:nvSpPr>
        <p:spPr>
          <a:xfrm>
            <a:off x="452100" y="1764650"/>
            <a:ext cx="6588600" cy="19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Montserrat Medium"/>
                <a:ea typeface="Montserrat Medium"/>
                <a:cs typeface="Montserrat Medium"/>
                <a:sym typeface="Montserrat Medium"/>
              </a:rPr>
              <a:t>Trial Preparation: </a:t>
            </a:r>
            <a:endParaRPr sz="1200">
              <a:latin typeface="Montserrat Medium"/>
              <a:ea typeface="Montserrat Medium"/>
              <a:cs typeface="Montserrat Medium"/>
              <a:sym typeface="Montserrat Medium"/>
            </a:endParaRPr>
          </a:p>
          <a:p>
            <a:pPr marL="457200" lvl="0" indent="-304800" algn="l" rtl="0">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If the case proceeds to trial, prepare a robust defense focusing on demonstrating diligent communication and safety practices by Reynolds. Highlight any ambiguities in the claims about the condition of the roof and John’s responsibility for his own safety.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r>
              <a:rPr lang="en-GB" sz="1200">
                <a:latin typeface="Montserrat Medium"/>
                <a:ea typeface="Montserrat Medium"/>
                <a:cs typeface="Montserrat Medium"/>
                <a:sym typeface="Montserrat Medium"/>
              </a:rPr>
              <a:t>Risk Management: </a:t>
            </a:r>
            <a:endParaRPr sz="1200">
              <a:latin typeface="Montserrat Medium"/>
              <a:ea typeface="Montserrat Medium"/>
              <a:cs typeface="Montserrat Medium"/>
              <a:sym typeface="Montserrat Medium"/>
            </a:endParaRPr>
          </a:p>
          <a:p>
            <a:pPr marL="457200" lvl="0" indent="-304800" algn="l" rtl="0">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Implement a risk management protocol for similar future situations, including regular safety audits and clear documentation of communications with contractors regarding site conditions.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440" name="Google Shape;440;p41"/>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441" name="Google Shape;441;p41"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442" name="Google Shape;442;p41"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443" name="Google Shape;443;p41"/>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2"/>
          <p:cNvSpPr txBox="1">
            <a:spLocks noGrp="1"/>
          </p:cNvSpPr>
          <p:nvPr>
            <p:ph type="title"/>
          </p:nvPr>
        </p:nvSpPr>
        <p:spPr>
          <a:xfrm>
            <a:off x="1297500" y="393750"/>
            <a:ext cx="7963200" cy="14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Recommendations</a:t>
            </a:r>
            <a:endParaRPr/>
          </a:p>
        </p:txBody>
      </p:sp>
      <p:sp>
        <p:nvSpPr>
          <p:cNvPr id="449" name="Google Shape;449;p42"/>
          <p:cNvSpPr txBox="1">
            <a:spLocks noGrp="1"/>
          </p:cNvSpPr>
          <p:nvPr>
            <p:ph type="body" idx="1"/>
          </p:nvPr>
        </p:nvSpPr>
        <p:spPr>
          <a:xfrm>
            <a:off x="452100" y="1764650"/>
            <a:ext cx="6588600" cy="19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Montserrat Medium"/>
                <a:ea typeface="Montserrat Medium"/>
                <a:cs typeface="Montserrat Medium"/>
                <a:sym typeface="Montserrat Medium"/>
              </a:rPr>
              <a:t>Public Relations Management: </a:t>
            </a:r>
            <a:endParaRPr sz="1200">
              <a:latin typeface="Montserrat Medium"/>
              <a:ea typeface="Montserrat Medium"/>
              <a:cs typeface="Montserrat Medium"/>
              <a:sym typeface="Montserrat Medium"/>
            </a:endParaRPr>
          </a:p>
          <a:p>
            <a:pPr marL="457200" lvl="0" indent="-304800" algn="l" rtl="0">
              <a:spcBef>
                <a:spcPts val="0"/>
              </a:spcBef>
              <a:spcAft>
                <a:spcPts val="0"/>
              </a:spcAft>
              <a:buSzPts val="1200"/>
              <a:buFont typeface="Montserrat Medium"/>
              <a:buChar char="❖"/>
            </a:pPr>
            <a:r>
              <a:rPr lang="en-GB" sz="1200">
                <a:latin typeface="Montserrat Medium"/>
                <a:ea typeface="Montserrat Medium"/>
                <a:cs typeface="Montserrat Medium"/>
                <a:sym typeface="Montserrat Medium"/>
              </a:rPr>
              <a:t>Develop a communication strategy to manage potential negative publicity, emphasizing the company’s commitment to safety and fair handling of disputes. </a:t>
            </a: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endParaRPr sz="1200">
              <a:latin typeface="Montserrat Medium"/>
              <a:ea typeface="Montserrat Medium"/>
              <a:cs typeface="Montserrat Medium"/>
              <a:sym typeface="Montserrat Medium"/>
            </a:endParaRPr>
          </a:p>
          <a:p>
            <a:pPr marL="0" lvl="0" indent="0" algn="l" rtl="0">
              <a:spcBef>
                <a:spcPts val="0"/>
              </a:spcBef>
              <a:spcAft>
                <a:spcPts val="0"/>
              </a:spcAft>
              <a:buNone/>
            </a:pPr>
            <a:r>
              <a:rPr lang="en-GB" sz="1200">
                <a:latin typeface="Montserrat Medium"/>
                <a:ea typeface="Montserrat Medium"/>
                <a:cs typeface="Montserrat Medium"/>
                <a:sym typeface="Montserrat Medium"/>
              </a:rPr>
              <a:t>By adopting these strategies, Allied Insurance can effectively manage the litigation risk, control potential costs, and maintain its reputation. </a:t>
            </a:r>
            <a:endParaRPr sz="1200">
              <a:latin typeface="Montserrat Medium"/>
              <a:ea typeface="Montserrat Medium"/>
              <a:cs typeface="Montserrat Medium"/>
              <a:sym typeface="Montserrat Medium"/>
            </a:endParaRPr>
          </a:p>
          <a:p>
            <a:pPr marL="0" lvl="0" indent="0" algn="l" rtl="0">
              <a:lnSpc>
                <a:spcPct val="150000"/>
              </a:lnSpc>
              <a:spcBef>
                <a:spcPts val="0"/>
              </a:spcBef>
              <a:spcAft>
                <a:spcPts val="1600"/>
              </a:spcAft>
              <a:buNone/>
            </a:pPr>
            <a:endParaRPr>
              <a:solidFill>
                <a:srgbClr val="FFFFFF"/>
              </a:solidFill>
            </a:endParaRPr>
          </a:p>
        </p:txBody>
      </p:sp>
      <p:sp>
        <p:nvSpPr>
          <p:cNvPr id="450" name="Google Shape;450;p42"/>
          <p:cNvSpPr/>
          <p:nvPr/>
        </p:nvSpPr>
        <p:spPr>
          <a:xfrm>
            <a:off x="7040600" y="3923575"/>
            <a:ext cx="2106350" cy="1222450"/>
          </a:xfrm>
          <a:custGeom>
            <a:avLst/>
            <a:gdLst/>
            <a:ahLst/>
            <a:cxnLst/>
            <a:rect l="l" t="t" r="r" b="b"/>
            <a:pathLst>
              <a:path w="84254" h="48898" extrusionOk="0">
                <a:moveTo>
                  <a:pt x="0" y="0"/>
                </a:moveTo>
                <a:lnTo>
                  <a:pt x="50319" y="0"/>
                </a:lnTo>
                <a:lnTo>
                  <a:pt x="84254" y="33935"/>
                </a:lnTo>
                <a:lnTo>
                  <a:pt x="84254" y="48898"/>
                </a:lnTo>
                <a:lnTo>
                  <a:pt x="48798" y="48898"/>
                </a:lnTo>
                <a:close/>
              </a:path>
            </a:pathLst>
          </a:custGeom>
          <a:solidFill>
            <a:schemeClr val="accent3"/>
          </a:solidFill>
          <a:ln>
            <a:noFill/>
          </a:ln>
        </p:spPr>
        <p:txBody>
          <a:bodyPr/>
          <a:lstStyle/>
          <a:p>
            <a:endParaRPr lang="en-US"/>
          </a:p>
        </p:txBody>
      </p:sp>
      <p:pic>
        <p:nvPicPr>
          <p:cNvPr id="451" name="Google Shape;451;p42" descr="offset_comp_342327_edited.jpg"/>
          <p:cNvPicPr preferRelativeResize="0"/>
          <p:nvPr/>
        </p:nvPicPr>
        <p:blipFill rotWithShape="1">
          <a:blip r:embed="rId3">
            <a:alphaModFix/>
          </a:blip>
          <a:srcRect l="45356" t="50734" r="19582" b="26215"/>
          <a:stretch/>
        </p:blipFill>
        <p:spPr>
          <a:xfrm>
            <a:off x="7836853" y="2734350"/>
            <a:ext cx="1310100" cy="1745700"/>
          </a:xfrm>
          <a:prstGeom prst="rect">
            <a:avLst/>
          </a:prstGeom>
          <a:noFill/>
          <a:ln>
            <a:noFill/>
          </a:ln>
        </p:spPr>
      </p:pic>
      <p:pic>
        <p:nvPicPr>
          <p:cNvPr id="452" name="Google Shape;452;p42" descr="offset_comp_342327_edited.jpg"/>
          <p:cNvPicPr preferRelativeResize="0"/>
          <p:nvPr/>
        </p:nvPicPr>
        <p:blipFill rotWithShape="1">
          <a:blip r:embed="rId3">
            <a:alphaModFix/>
          </a:blip>
          <a:srcRect l="45356" t="50734" r="19582" b="26215"/>
          <a:stretch/>
        </p:blipFill>
        <p:spPr>
          <a:xfrm>
            <a:off x="5157125" y="4480042"/>
            <a:ext cx="3063300" cy="645300"/>
          </a:xfrm>
          <a:prstGeom prst="rect">
            <a:avLst/>
          </a:prstGeom>
          <a:noFill/>
          <a:ln>
            <a:noFill/>
          </a:ln>
        </p:spPr>
      </p:pic>
      <p:pic>
        <p:nvPicPr>
          <p:cNvPr id="453" name="Google Shape;453;p42"/>
          <p:cNvPicPr preferRelativeResize="0"/>
          <p:nvPr/>
        </p:nvPicPr>
        <p:blipFill>
          <a:blip r:embed="rId4">
            <a:alphaModFix/>
          </a:blip>
          <a:stretch>
            <a:fillRect/>
          </a:stretch>
        </p:blipFill>
        <p:spPr>
          <a:xfrm>
            <a:off x="8330225" y="96500"/>
            <a:ext cx="717675" cy="613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3"/>
          <p:cNvSpPr txBox="1">
            <a:spLocks noGrp="1"/>
          </p:cNvSpPr>
          <p:nvPr>
            <p:ph type="title"/>
          </p:nvPr>
        </p:nvSpPr>
        <p:spPr>
          <a:xfrm>
            <a:off x="3040350" y="2225550"/>
            <a:ext cx="3063300" cy="6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600"/>
              <a:t>Thank you!</a:t>
            </a:r>
            <a:endParaRPr sz="3600"/>
          </a:p>
        </p:txBody>
      </p:sp>
      <p:pic>
        <p:nvPicPr>
          <p:cNvPr id="459" name="Google Shape;459;p43"/>
          <p:cNvPicPr preferRelativeResize="0"/>
          <p:nvPr/>
        </p:nvPicPr>
        <p:blipFill>
          <a:blip r:embed="rId3">
            <a:alphaModFix/>
          </a:blip>
          <a:stretch>
            <a:fillRect/>
          </a:stretch>
        </p:blipFill>
        <p:spPr>
          <a:xfrm>
            <a:off x="8330225" y="96500"/>
            <a:ext cx="717675" cy="613025"/>
          </a:xfrm>
          <a:prstGeom prst="rect">
            <a:avLst/>
          </a:prstGeom>
          <a:noFill/>
          <a:ln>
            <a:noFill/>
          </a:ln>
        </p:spPr>
      </p:pic>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1642</Words>
  <Application>Microsoft Macintosh PowerPoint</Application>
  <PresentationFormat>On-screen Show (16:9)</PresentationFormat>
  <Paragraphs>145</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Montserrat</vt:lpstr>
      <vt:lpstr>Montserrat Light</vt:lpstr>
      <vt:lpstr>Montserrat Medium</vt:lpstr>
      <vt:lpstr>Montserrat SemiBold</vt:lpstr>
      <vt:lpstr>Arial</vt:lpstr>
      <vt:lpstr>Lato</vt:lpstr>
      <vt:lpstr>Focus</vt:lpstr>
      <vt:lpstr>Quant Final Presentation  Ascendant Strategy Consultants  </vt:lpstr>
      <vt:lpstr>Overview </vt:lpstr>
      <vt:lpstr>Case 1: Wagner Fabricating Company </vt:lpstr>
      <vt:lpstr>Business Problem  </vt:lpstr>
      <vt:lpstr>Analysis of the Business Problem </vt:lpstr>
      <vt:lpstr>Analysis of the Business Problem </vt:lpstr>
      <vt:lpstr>Analysis of the Business Problem </vt:lpstr>
      <vt:lpstr>Analysis of the Business Problem </vt:lpstr>
      <vt:lpstr>Analysis of the Business Problem </vt:lpstr>
      <vt:lpstr>Benefits, Disadvantages, and Challenges </vt:lpstr>
      <vt:lpstr>Benefits, Disadvantages, and Challenges </vt:lpstr>
      <vt:lpstr>Benefits, Disadvantages, and Challenges </vt:lpstr>
      <vt:lpstr>Recommendations</vt:lpstr>
      <vt:lpstr>Recommendations</vt:lpstr>
      <vt:lpstr>Recommendations</vt:lpstr>
      <vt:lpstr>Case 2: Lawsuit Defense Strategy for Chay Construction Company </vt:lpstr>
      <vt:lpstr>Business Problem </vt:lpstr>
      <vt:lpstr>Analysis of Business Problem </vt:lpstr>
      <vt:lpstr>Analysis of Business Problem </vt:lpstr>
      <vt:lpstr>Analysis of Business Problem </vt:lpstr>
      <vt:lpstr>Benefits, Disadvantages, Challenges</vt:lpstr>
      <vt:lpstr>Benefits, Disadvantages, Challenges</vt:lpstr>
      <vt:lpstr>Benefits, Disadvantages, Challenges</vt:lpstr>
      <vt:lpstr>Recommendations</vt:lpstr>
      <vt:lpstr>Recommendations</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Ram Chaitan Varma</cp:lastModifiedBy>
  <cp:revision>1</cp:revision>
  <dcterms:modified xsi:type="dcterms:W3CDTF">2026-03-20T23:54:24Z</dcterms:modified>
</cp:coreProperties>
</file>