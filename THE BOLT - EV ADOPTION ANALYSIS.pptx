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5143500" type="screen16x9"/>
  <p:notesSz cx="6858000" cy="9144000"/>
  <p:embeddedFontLst>
    <p:embeddedFont>
      <p:font typeface="Days One" panose="02000505000000020004" pitchFamily="2" charset="0"/>
      <p:regular r:id="rId36"/>
    </p:embeddedFont>
    <p:embeddedFont>
      <p:font typeface="DM Sans" pitchFamily="2" charset="77"/>
      <p:regular r:id="rId37"/>
      <p:bold r:id="rId38"/>
      <p:italic r:id="rId39"/>
      <p:boldItalic r:id="rId40"/>
    </p:embeddedFont>
    <p:embeddedFont>
      <p:font typeface="Montserrat" pitchFamily="2" charset="77"/>
      <p:regular r:id="rId41"/>
      <p:bold r:id="rId42"/>
      <p:italic r:id="rId43"/>
      <p:boldItalic r:id="rId44"/>
    </p:embeddedFont>
    <p:embeddedFont>
      <p:font typeface="Montserrat Black" panose="00000A00000000000000" pitchFamily="2" charset="77"/>
      <p:bold r:id="rId45"/>
      <p:boldItalic r:id="rId46"/>
    </p:embeddedFont>
    <p:embeddedFont>
      <p:font typeface="Montserrat ExtraBold" panose="00000900000000000000" pitchFamily="2" charset="77"/>
      <p:bold r:id="rId47"/>
      <p:italic r:id="rId48"/>
      <p:boldItalic r:id="rId49"/>
    </p:embeddedFont>
    <p:embeddedFont>
      <p:font typeface="Montserrat Medium" panose="00000600000000000000" pitchFamily="2" charset="77"/>
      <p:regular r:id="rId50"/>
      <p:bold r:id="rId51"/>
      <p:italic r:id="rId52"/>
      <p:boldItalic r:id="rId53"/>
    </p:embeddedFont>
    <p:embeddedFont>
      <p:font typeface="Roboto" panose="02000000000000000000" pitchFamily="2" charset="0"/>
      <p:regular r:id="rId54"/>
      <p:bold r:id="rId55"/>
      <p:italic r:id="rId56"/>
      <p:boldItalic r:id="rId57"/>
    </p:embeddedFont>
    <p:embeddedFont>
      <p:font typeface="Space Mono" panose="02010509030202000204" pitchFamily="49" charset="77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012FF6-6F14-46CA-AA71-EF99DA4DAF3F}">
  <a:tblStyle styleId="{81012FF6-6F14-46CA-AA71-EF99DA4DAF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37"/>
  </p:normalViewPr>
  <p:slideViewPr>
    <p:cSldViewPr snapToGrid="0">
      <p:cViewPr varScale="1">
        <p:scale>
          <a:sx n="119" d="100"/>
          <a:sy n="119" d="100"/>
        </p:scale>
        <p:origin x="7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font" Target="fonts/font23.fntdata"/><Relationship Id="rId5" Type="http://schemas.openxmlformats.org/officeDocument/2006/relationships/slide" Target="slides/slide4.xml"/><Relationship Id="rId61" Type="http://schemas.openxmlformats.org/officeDocument/2006/relationships/font" Target="fonts/font2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font" Target="fonts/font21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font" Target="fonts/font2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openxmlformats.org/officeDocument/2006/relationships/font" Target="fonts/font25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4c0511179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4c0511179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fb72dd01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4fb72dd01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fb72dd01e_3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4fb72dd01e_3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40948e66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40948e66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d8aef6f55e716b8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d8aef6f55e716b8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40948e66f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540948e66f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d8aef6f55e716b8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d8aef6f55e716b8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40948e6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40948e66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06743487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06743487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40948e66f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540948e66f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40948e66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540948e66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40948e66f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540948e66f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27620989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27620989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40948e66f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540948e66f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d8aef6f55e716b8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d8aef6f55e716b8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40948e66f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40948e66f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27620989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27620989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40948e66f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540948e66f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40948e66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540948e66f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d8aef6f55e716b8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d8aef6f55e716b8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40948e66f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40948e66f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40948e66f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540948e66f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7080506d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57080506d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506737c4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506737c4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506737c4f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5506737c4f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d8aef6f55e716b8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d8aef6f55e716b8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527620989e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527620989e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d8aef6f55e716b8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d8aef6f55e716b8_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d8aef6f55e716b8_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d8aef6f55e716b8_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40948e66f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40948e66f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80aeea1a29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80aeea1a29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fb72dd01e_0_10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4fb72dd01e_0_10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57080506dd_5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57080506dd_5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">
    <p:bg>
      <p:bgPr>
        <a:solidFill>
          <a:srgbClr val="57068C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" name="Google Shape;11;p2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2">
  <p:cSld name="TITLE_1">
    <p:bg>
      <p:bgPr>
        <a:solidFill>
          <a:srgbClr val="57068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7" name="Google Shape;17;p3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_1_1_1">
    <p:bg>
      <p:bgPr>
        <a:solidFill>
          <a:srgbClr val="57068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3" name="Google Shape;23;p4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5">
  <p:cSld name="TITLE_1_1_1_1">
    <p:bg>
      <p:bgPr>
        <a:solidFill>
          <a:srgbClr val="57068C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9" name="Google Shape;29;p5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57068C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6" descr=" 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" name="Google Shape;35;p6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7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46" name="Google Shape;46;p8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53" name="Google Shape;53;p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59" name="Google Shape;59;p10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65" name="Google Shape;65;p11" descr="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72" name="Google Shape;72;p12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-page image">
  <p:cSld name="CUSTOM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1">
  <p:cSld name="CUSTOM_1_1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 hasCustomPrompt="1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08" name="Google Shape;108;p18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2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willianoliveiragibin/electric-vehicle-population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sdot.wa.gov/construction-planning/ev-infrastructure" TargetMode="External"/><Relationship Id="rId5" Type="http://schemas.openxmlformats.org/officeDocument/2006/relationships/hyperlink" Target="https://www.iea.org/reports/global-ev-outlook-2024" TargetMode="External"/><Relationship Id="rId4" Type="http://schemas.openxmlformats.org/officeDocument/2006/relationships/hyperlink" Target="https://afdc.energy.gov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THE BOLT: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Electric Vehicle Adoption Analysis in Washington State</a:t>
            </a:r>
            <a:endParaRPr sz="3600"/>
          </a:p>
        </p:txBody>
      </p:sp>
      <p:sp>
        <p:nvSpPr>
          <p:cNvPr id="133" name="Google Shape;133;p23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62394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Geographic, Technical, and Infrastructure Trends from EV Registration Data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RAM BYRRAJU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05/05/2025</a:t>
            </a:r>
            <a:endParaRPr dirty="0"/>
          </a:p>
        </p:txBody>
      </p:sp>
      <p:sp>
        <p:nvSpPr>
          <p:cNvPr id="135" name="Google Shape;135;p23"/>
          <p:cNvSpPr txBox="1"/>
          <p:nvPr/>
        </p:nvSpPr>
        <p:spPr>
          <a:xfrm>
            <a:off x="2175000" y="4628950"/>
            <a:ext cx="53970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00" i="1">
                <a:solidFill>
                  <a:schemeClr val="lt1"/>
                </a:solidFill>
              </a:rPr>
              <a:t>Disclaimer: This presentation is part of a class project for Database Design &amp; Management, MASY1-GC 3500 and is not affiliated with or endorsed by Washington State or Electric Vehicle makers. All content is for academic purposes only.</a:t>
            </a:r>
            <a:endParaRPr i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311690" y="337157"/>
            <a:ext cx="8520600" cy="18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4800"/>
              <a:t>AGENDA</a:t>
            </a:r>
            <a:endParaRPr sz="4800"/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1"/>
          </p:nvPr>
        </p:nvSpPr>
        <p:spPr>
          <a:xfrm>
            <a:off x="780235" y="1406357"/>
            <a:ext cx="506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Project Overview and Objectives</a:t>
            </a:r>
            <a:endParaRPr/>
          </a:p>
          <a:p>
            <a:pPr marL="45720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Data Model</a:t>
            </a:r>
            <a:endParaRPr/>
          </a:p>
          <a:p>
            <a:pPr marL="45720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Analytical Framework</a:t>
            </a:r>
            <a:endParaRPr/>
          </a:p>
          <a:p>
            <a:pPr marL="45720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Key Findings by Goal</a:t>
            </a:r>
            <a:endParaRPr/>
          </a:p>
          <a:p>
            <a:pPr marL="45720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Strategic Implications</a:t>
            </a:r>
            <a:endParaRPr/>
          </a:p>
          <a:p>
            <a:pPr marL="45720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Recommendations</a:t>
            </a:r>
            <a:endParaRPr/>
          </a:p>
          <a:p>
            <a:pPr marL="45720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Closure &amp; Takeaways</a:t>
            </a:r>
            <a:endParaRPr/>
          </a:p>
          <a:p>
            <a:pPr marL="457200" lvl="0" indent="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742950" lvl="1" indent="-196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600"/>
          </a:p>
        </p:txBody>
      </p:sp>
      <p:sp>
        <p:nvSpPr>
          <p:cNvPr id="153" name="Google Shape;153;p25"/>
          <p:cNvSpPr txBox="1"/>
          <p:nvPr/>
        </p:nvSpPr>
        <p:spPr>
          <a:xfrm>
            <a:off x="4699439" y="1794085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Arial"/>
              <a:buNone/>
            </a:pPr>
            <a:r>
              <a:rPr lang="en" sz="25000" b="1" i="0" u="none" strike="noStrike" cap="none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00</a:t>
            </a:r>
            <a:endParaRPr sz="25000" b="1" i="0" u="none" strike="noStrike" cap="none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590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</a:rPr>
              <a:t>COMPANY OVERVIEW</a:t>
            </a:r>
            <a:endParaRPr sz="3700"/>
          </a:p>
        </p:txBody>
      </p:sp>
      <p:grpSp>
        <p:nvGrpSpPr>
          <p:cNvPr id="159" name="Google Shape;159;p26"/>
          <p:cNvGrpSpPr/>
          <p:nvPr/>
        </p:nvGrpSpPr>
        <p:grpSpPr>
          <a:xfrm>
            <a:off x="803246" y="1386550"/>
            <a:ext cx="7537500" cy="3030600"/>
            <a:chOff x="3150" y="293688"/>
            <a:chExt cx="7537500" cy="3030600"/>
          </a:xfrm>
        </p:grpSpPr>
        <p:sp>
          <p:nvSpPr>
            <p:cNvPr id="160" name="Google Shape;160;p26"/>
            <p:cNvSpPr/>
            <p:nvPr/>
          </p:nvSpPr>
          <p:spPr>
            <a:xfrm>
              <a:off x="441900" y="293688"/>
              <a:ext cx="1372500" cy="137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3150" y="2093688"/>
              <a:ext cx="2250000" cy="12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6"/>
            <p:cNvSpPr txBox="1"/>
            <p:nvPr/>
          </p:nvSpPr>
          <p:spPr>
            <a:xfrm>
              <a:off x="144279" y="1884813"/>
              <a:ext cx="2109000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Montserrat"/>
                  <a:ea typeface="Montserrat"/>
                  <a:cs typeface="Montserrat"/>
                  <a:sym typeface="Montserrat"/>
                </a:rPr>
                <a:t>Bolt 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is a Washington-based startup focused on installing EV charging ports.</a:t>
              </a:r>
              <a:b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</a:b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 </a:t>
              </a:r>
              <a:endPara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3085650" y="293688"/>
              <a:ext cx="1372500" cy="1372500"/>
            </a:xfrm>
            <a:prstGeom prst="ellipse">
              <a:avLst/>
            </a:prstGeom>
            <a:solidFill>
              <a:srgbClr val="5B3F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3378150" y="586188"/>
              <a:ext cx="787500" cy="787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50800" dist="50800" dir="5400000" algn="ctr" rotWithShape="0">
                <a:schemeClr val="dk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6"/>
            <p:cNvSpPr txBox="1"/>
            <p:nvPr/>
          </p:nvSpPr>
          <p:spPr>
            <a:xfrm>
              <a:off x="2834854" y="1884813"/>
              <a:ext cx="1880400" cy="12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4572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Montserrat"/>
                  <a:ea typeface="Montserrat"/>
                  <a:cs typeface="Montserrat"/>
                  <a:sym typeface="Montserrat"/>
                </a:rPr>
                <a:t>Target Market:</a:t>
              </a:r>
              <a:endParaRPr sz="1000" b="1"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EV owners in urban and suburban areas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Fleet operators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Businesses seeking EV infrastructure to attract customers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5684275" y="293688"/>
              <a:ext cx="1372500" cy="1372500"/>
            </a:xfrm>
            <a:prstGeom prst="ellipse">
              <a:avLst/>
            </a:prstGeom>
            <a:solidFill>
              <a:srgbClr val="9A6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734400" y="586188"/>
              <a:ext cx="787500" cy="787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50800" dist="50800" dir="5400000" algn="ctr" rotWithShape="0">
                <a:schemeClr val="dk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5290650" y="2093688"/>
              <a:ext cx="2250000" cy="12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 txBox="1"/>
            <p:nvPr/>
          </p:nvSpPr>
          <p:spPr>
            <a:xfrm>
              <a:off x="5290650" y="1884813"/>
              <a:ext cx="2250000" cy="12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Montserrat"/>
                  <a:ea typeface="Montserrat"/>
                  <a:cs typeface="Montserrat"/>
                  <a:sym typeface="Montserrat"/>
                </a:rPr>
                <a:t> Mission:</a:t>
              </a:r>
              <a:endParaRPr sz="1000" b="1"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To accelerate EV adoption by providing convenient, accessible, and strategically placed charging stations across the region.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0" name="Google Shape;170;p26"/>
          <p:cNvSpPr/>
          <p:nvPr/>
        </p:nvSpPr>
        <p:spPr>
          <a:xfrm>
            <a:off x="6738950" y="1637450"/>
            <a:ext cx="867300" cy="880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OBJECTIVES</a:t>
            </a: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876875" y="880400"/>
            <a:ext cx="346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Expand EV Charging Infrastructure</a:t>
            </a:r>
            <a:endParaRPr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5261925" y="880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Optimize Location Selection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996725" y="2768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Enhance User Experience</a:t>
            </a:r>
            <a:endParaRPr/>
          </a:p>
        </p:txBody>
      </p:sp>
      <p:sp>
        <p:nvSpPr>
          <p:cNvPr id="179" name="Google Shape;179;p27"/>
          <p:cNvSpPr txBox="1"/>
          <p:nvPr/>
        </p:nvSpPr>
        <p:spPr>
          <a:xfrm>
            <a:off x="5261925" y="2747775"/>
            <a:ext cx="321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Establish Strategic Partnerships</a:t>
            </a:r>
            <a:endParaRPr/>
          </a:p>
        </p:txBody>
      </p:sp>
      <p:sp>
        <p:nvSpPr>
          <p:cNvPr id="180" name="Google Shape;180;p27"/>
          <p:cNvSpPr txBox="1"/>
          <p:nvPr/>
        </p:nvSpPr>
        <p:spPr>
          <a:xfrm>
            <a:off x="876875" y="125132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Install </a:t>
            </a: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50 new charging stations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 across Washington state by the end of </a:t>
            </a: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December 2025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 to meet growing EV demand with </a:t>
            </a: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98% station uptime</a:t>
            </a:r>
            <a:endParaRPr sz="1100" b="1"/>
          </a:p>
        </p:txBody>
      </p:sp>
      <p:sp>
        <p:nvSpPr>
          <p:cNvPr id="181" name="Google Shape;181;p27"/>
          <p:cNvSpPr txBox="1"/>
          <p:nvPr/>
        </p:nvSpPr>
        <p:spPr>
          <a:xfrm>
            <a:off x="5153550" y="1180675"/>
            <a:ext cx="30000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Use data analytics and predictive modeling to identify high-traffic, underserved areas for maximum utilization and accessibility and achieve an </a:t>
            </a: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Installation Completion Rate ≥ 100% 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of planned sites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876875" y="3109625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Achieve </a:t>
            </a: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95% CSAT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 by ensuring reliable uptime, fast charging speeds, and user-friendly payment systems — aligned with continuous improvement under Six Sigma principles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5153550" y="321752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Collaborate with retailers, malls, and municipalities to secure charging station locations and co-marketing opportunities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459425" y="1099525"/>
            <a:ext cx="53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6ABA"/>
                </a:solidFill>
              </a:rPr>
              <a:t>1</a:t>
            </a:r>
            <a:endParaRPr>
              <a:solidFill>
                <a:srgbClr val="9A6ABA"/>
              </a:solidFill>
            </a:endParaRPr>
          </a:p>
        </p:txBody>
      </p:sp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4615700" y="1078850"/>
            <a:ext cx="53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6ABA"/>
                </a:solidFill>
              </a:rPr>
              <a:t>2</a:t>
            </a:r>
            <a:endParaRPr>
              <a:solidFill>
                <a:srgbClr val="9A6ABA"/>
              </a:solidFill>
            </a:endParaRPr>
          </a:p>
        </p:txBody>
      </p:sp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xfrm>
            <a:off x="459425" y="2935175"/>
            <a:ext cx="53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6ABA"/>
                </a:solidFill>
              </a:rPr>
              <a:t>3</a:t>
            </a:r>
            <a:endParaRPr>
              <a:solidFill>
                <a:srgbClr val="9A6ABA"/>
              </a:solidFill>
            </a:endParaRPr>
          </a:p>
        </p:txBody>
      </p:sp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4615700" y="3043075"/>
            <a:ext cx="53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6ABA"/>
                </a:solidFill>
              </a:rPr>
              <a:t>4</a:t>
            </a:r>
            <a:endParaRPr>
              <a:solidFill>
                <a:srgbClr val="9A6AB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329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PROJECT GOALS</a:t>
            </a:r>
            <a:endParaRPr sz="2900"/>
          </a:p>
        </p:txBody>
      </p:sp>
      <p:sp>
        <p:nvSpPr>
          <p:cNvPr id="193" name="Google Shape;193;p28"/>
          <p:cNvSpPr/>
          <p:nvPr/>
        </p:nvSpPr>
        <p:spPr>
          <a:xfrm>
            <a:off x="3197664" y="1473504"/>
            <a:ext cx="2870100" cy="2107500"/>
          </a:xfrm>
          <a:prstGeom prst="roundRect">
            <a:avLst>
              <a:gd name="adj" fmla="val 16667"/>
            </a:avLst>
          </a:prstGeom>
          <a:solidFill>
            <a:srgbClr val="57068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STRATEGIC OBJECTIVE</a:t>
            </a:r>
            <a:endParaRPr sz="13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Identify high-opportunity locations for EV charging ports in WA and the USA at large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6455420" y="721512"/>
            <a:ext cx="2465400" cy="1348500"/>
          </a:xfrm>
          <a:prstGeom prst="roundRect">
            <a:avLst>
              <a:gd name="adj" fmla="val 16667"/>
            </a:avLst>
          </a:prstGeom>
          <a:solidFill>
            <a:srgbClr val="9325A5"/>
          </a:solidFill>
          <a:ln w="9525" cap="flat" cmpd="sng">
            <a:solidFill>
              <a:srgbClr val="932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Gauge Infrastructure Readiness</a:t>
            </a:r>
            <a:b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Align vehicle concentration with utility coverage to assess current and future charging demand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6455420" y="3048261"/>
            <a:ext cx="2465400" cy="1348500"/>
          </a:xfrm>
          <a:prstGeom prst="roundRect">
            <a:avLst>
              <a:gd name="adj" fmla="val 16667"/>
            </a:avLst>
          </a:prstGeom>
          <a:solidFill>
            <a:srgbClr val="9325A5"/>
          </a:solidFill>
          <a:ln w="9525" cap="flat" cmpd="sng">
            <a:solidFill>
              <a:srgbClr val="932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Analyze Adoption Growth Over Time</a:t>
            </a:r>
            <a:b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Track year-over-year changes by city and model year to forecast future expansion areas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8"/>
          <p:cNvSpPr/>
          <p:nvPr/>
        </p:nvSpPr>
        <p:spPr>
          <a:xfrm flipH="1">
            <a:off x="223181" y="746736"/>
            <a:ext cx="2465400" cy="1348500"/>
          </a:xfrm>
          <a:prstGeom prst="roundRect">
            <a:avLst>
              <a:gd name="adj" fmla="val 16667"/>
            </a:avLst>
          </a:prstGeom>
          <a:solidFill>
            <a:srgbClr val="9325A5"/>
          </a:solidFill>
          <a:ln w="9525" cap="flat" cmpd="sng">
            <a:solidFill>
              <a:srgbClr val="932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Reveal Regional Adoption Trends</a:t>
            </a:r>
            <a:endParaRPr sz="11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Identify hotspots and gaps in EV ownership across counties, districts, and postal codes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/>
          <p:nvPr/>
        </p:nvSpPr>
        <p:spPr>
          <a:xfrm flipH="1">
            <a:off x="223181" y="3073484"/>
            <a:ext cx="2465400" cy="1348500"/>
          </a:xfrm>
          <a:prstGeom prst="roundRect">
            <a:avLst>
              <a:gd name="adj" fmla="val 16667"/>
            </a:avLst>
          </a:prstGeom>
          <a:solidFill>
            <a:srgbClr val="9325A5"/>
          </a:solidFill>
          <a:ln w="9525" cap="flat" cmpd="sng">
            <a:solidFill>
              <a:srgbClr val="932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Evaluate Vehicle Ecosystem Performance</a:t>
            </a:r>
            <a:b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Compare adoption and range data by EV type and manufacturer to guide hardware selection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" name="Google Shape;198;p28"/>
          <p:cNvCxnSpPr>
            <a:stCxn id="193" idx="3"/>
            <a:endCxn id="194" idx="1"/>
          </p:cNvCxnSpPr>
          <p:nvPr/>
        </p:nvCxnSpPr>
        <p:spPr>
          <a:xfrm rot="10800000" flipH="1">
            <a:off x="6067764" y="1395654"/>
            <a:ext cx="387600" cy="11316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28"/>
          <p:cNvCxnSpPr>
            <a:stCxn id="193" idx="3"/>
            <a:endCxn id="195" idx="1"/>
          </p:cNvCxnSpPr>
          <p:nvPr/>
        </p:nvCxnSpPr>
        <p:spPr>
          <a:xfrm>
            <a:off x="6067764" y="2527254"/>
            <a:ext cx="387600" cy="11952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28"/>
          <p:cNvCxnSpPr>
            <a:stCxn id="196" idx="1"/>
            <a:endCxn id="201" idx="3"/>
          </p:cNvCxnSpPr>
          <p:nvPr/>
        </p:nvCxnSpPr>
        <p:spPr>
          <a:xfrm>
            <a:off x="2688581" y="1420986"/>
            <a:ext cx="650700" cy="120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28"/>
          <p:cNvCxnSpPr>
            <a:stCxn id="197" idx="1"/>
            <a:endCxn id="201" idx="3"/>
          </p:cNvCxnSpPr>
          <p:nvPr/>
        </p:nvCxnSpPr>
        <p:spPr>
          <a:xfrm rot="10800000" flipH="1">
            <a:off x="2688581" y="2629934"/>
            <a:ext cx="650700" cy="1117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84925" y="1093650"/>
            <a:ext cx="3000000" cy="22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 b="1">
                <a:latin typeface="Montserrat"/>
                <a:ea typeface="Montserrat"/>
                <a:cs typeface="Montserrat"/>
                <a:sym typeface="Montserrat"/>
              </a:rPr>
              <a:t>216 Target Cities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 Washington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>
                <a:latin typeface="Montserrat"/>
                <a:ea typeface="Montserrat"/>
                <a:cs typeface="Montserrat"/>
                <a:sym typeface="Montserrat"/>
              </a:rPr>
              <a:t>8,397 electric vehicle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registrations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50 Planned Charging Stations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100+ Potential Host Site Applications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3799975" y="1036350"/>
            <a:ext cx="5221500" cy="3420900"/>
          </a:xfrm>
          <a:prstGeom prst="rect">
            <a:avLst/>
          </a:prstGeom>
          <a:noFill/>
          <a:ln w="9525" cap="flat" cmpd="sng">
            <a:solidFill>
              <a:srgbClr val="701C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428750" lvl="0" indent="-1543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	Washington State Department of Licensing EV Registrations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428750" lvl="0" indent="-1543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latin typeface="Montserrat"/>
                <a:ea typeface="Montserrat"/>
                <a:cs typeface="Montserrat"/>
                <a:sym typeface="Montserrat"/>
              </a:rPr>
              <a:t>Key Fields: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	Postal code, county, city, model year, vehicle type (BEV/PHEV), make, e-range, utility provider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428750" lvl="0" indent="-1543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latin typeface="Montserrat"/>
                <a:ea typeface="Montserrat"/>
                <a:cs typeface="Montserrat"/>
                <a:sym typeface="Montserrat"/>
              </a:rPr>
              <a:t>Data Volume: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	Over 100,000 records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428750" lvl="0" indent="-1543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latin typeface="Montserrat"/>
                <a:ea typeface="Montserrat"/>
                <a:cs typeface="Montserrat"/>
                <a:sym typeface="Montserrat"/>
              </a:rPr>
              <a:t>Time Coverage: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Includes model years from 2010–2024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428750" lvl="0" indent="-15430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>
                <a:latin typeface="Montserrat"/>
                <a:ea typeface="Montserrat"/>
                <a:cs typeface="Montserrat"/>
                <a:sym typeface="Montserrat"/>
              </a:rPr>
              <a:t>Structure: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	Transformed into 3NF and loaded into Oracle SQL Developer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</a:rPr>
              <a:t>ALGORITHM</a:t>
            </a:r>
            <a:endParaRPr sz="3800"/>
          </a:p>
        </p:txBody>
      </p:sp>
      <p:sp>
        <p:nvSpPr>
          <p:cNvPr id="215" name="Google Shape;215;p30"/>
          <p:cNvSpPr/>
          <p:nvPr/>
        </p:nvSpPr>
        <p:spPr>
          <a:xfrm rot="1064033" flipH="1">
            <a:off x="7412641" y="2536837"/>
            <a:ext cx="1395618" cy="77435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0"/>
          <p:cNvSpPr/>
          <p:nvPr/>
        </p:nvSpPr>
        <p:spPr>
          <a:xfrm rot="-1064033">
            <a:off x="6138761" y="2536837"/>
            <a:ext cx="1395618" cy="77435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0"/>
          <p:cNvSpPr/>
          <p:nvPr/>
        </p:nvSpPr>
        <p:spPr>
          <a:xfrm rot="1064033" flipH="1">
            <a:off x="4859979" y="2536837"/>
            <a:ext cx="1395618" cy="77435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0"/>
          <p:cNvSpPr/>
          <p:nvPr/>
        </p:nvSpPr>
        <p:spPr>
          <a:xfrm rot="-1064033">
            <a:off x="3591221" y="2536837"/>
            <a:ext cx="1395618" cy="77435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0"/>
          <p:cNvSpPr/>
          <p:nvPr/>
        </p:nvSpPr>
        <p:spPr>
          <a:xfrm rot="1064033" flipH="1">
            <a:off x="2312425" y="2536837"/>
            <a:ext cx="1395618" cy="77435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0"/>
          <p:cNvSpPr/>
          <p:nvPr/>
        </p:nvSpPr>
        <p:spPr>
          <a:xfrm rot="-1064033">
            <a:off x="1043666" y="2536837"/>
            <a:ext cx="1395618" cy="77435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30"/>
          <p:cNvGrpSpPr/>
          <p:nvPr/>
        </p:nvGrpSpPr>
        <p:grpSpPr>
          <a:xfrm>
            <a:off x="2596226" y="2618472"/>
            <a:ext cx="2125118" cy="1657158"/>
            <a:chOff x="2114740" y="2543425"/>
            <a:chExt cx="1712700" cy="1230715"/>
          </a:xfrm>
        </p:grpSpPr>
        <p:sp>
          <p:nvSpPr>
            <p:cNvPr id="222" name="Google Shape;222;p30"/>
            <p:cNvSpPr txBox="1"/>
            <p:nvPr/>
          </p:nvSpPr>
          <p:spPr>
            <a:xfrm>
              <a:off x="2427204" y="2713563"/>
              <a:ext cx="10878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701C7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2</a:t>
              </a:r>
              <a:endParaRPr sz="800" b="1">
                <a:solidFill>
                  <a:srgbClr val="701C7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30"/>
            <p:cNvSpPr/>
            <p:nvPr/>
          </p:nvSpPr>
          <p:spPr>
            <a:xfrm rot="-1789476">
              <a:off x="288808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2114740" y="307064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0"/>
            <p:cNvSpPr txBox="1"/>
            <p:nvPr/>
          </p:nvSpPr>
          <p:spPr>
            <a:xfrm>
              <a:off x="2158990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 the data to 3NF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2926090" y="3005991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" name="Google Shape;227;p30"/>
          <p:cNvGrpSpPr/>
          <p:nvPr/>
        </p:nvGrpSpPr>
        <p:grpSpPr>
          <a:xfrm>
            <a:off x="5140362" y="2618472"/>
            <a:ext cx="2125118" cy="1657158"/>
            <a:chOff x="4165140" y="2543425"/>
            <a:chExt cx="1712700" cy="1230715"/>
          </a:xfrm>
        </p:grpSpPr>
        <p:sp>
          <p:nvSpPr>
            <p:cNvPr id="228" name="Google Shape;228;p30"/>
            <p:cNvSpPr/>
            <p:nvPr/>
          </p:nvSpPr>
          <p:spPr>
            <a:xfrm rot="-1789476">
              <a:off x="4941257" y="2572699"/>
              <a:ext cx="160451" cy="160451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p30"/>
            <p:cNvSpPr txBox="1"/>
            <p:nvPr/>
          </p:nvSpPr>
          <p:spPr>
            <a:xfrm>
              <a:off x="4546600" y="2745888"/>
              <a:ext cx="9498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4</a:t>
              </a:r>
              <a:endParaRPr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4165140" y="307064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30"/>
            <p:cNvSpPr txBox="1"/>
            <p:nvPr/>
          </p:nvSpPr>
          <p:spPr>
            <a:xfrm>
              <a:off x="4209390" y="3107840"/>
              <a:ext cx="1624200" cy="624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Developed analytical SQL views for trend discovery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4976490" y="3005991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3" name="Google Shape;233;p30"/>
          <p:cNvGrpSpPr/>
          <p:nvPr/>
        </p:nvGrpSpPr>
        <p:grpSpPr>
          <a:xfrm>
            <a:off x="1309088" y="838594"/>
            <a:ext cx="2125118" cy="1678754"/>
            <a:chOff x="1072790" y="1221570"/>
            <a:chExt cx="1712700" cy="1246754"/>
          </a:xfrm>
        </p:grpSpPr>
        <p:sp>
          <p:nvSpPr>
            <p:cNvPr id="234" name="Google Shape;234;p30"/>
            <p:cNvSpPr/>
            <p:nvPr/>
          </p:nvSpPr>
          <p:spPr>
            <a:xfrm>
              <a:off x="1072790" y="122157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5" name="Google Shape;235;p30"/>
            <p:cNvSpPr txBox="1"/>
            <p:nvPr/>
          </p:nvSpPr>
          <p:spPr>
            <a:xfrm>
              <a:off x="1426195" y="1987550"/>
              <a:ext cx="1005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701C7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1</a:t>
              </a:r>
              <a:endParaRPr sz="800" b="1">
                <a:solidFill>
                  <a:srgbClr val="701C7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 rot="10800000">
              <a:off x="1884115" y="1920663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7" name="Google Shape;237;p30"/>
            <p:cNvSpPr txBox="1"/>
            <p:nvPr/>
          </p:nvSpPr>
          <p:spPr>
            <a:xfrm>
              <a:off x="1117040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Loaded and cleaned raw dataset in Oracle SQL Developer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8" name="Google Shape;238;p30"/>
            <p:cNvSpPr/>
            <p:nvPr/>
          </p:nvSpPr>
          <p:spPr>
            <a:xfrm rot="-1789476">
              <a:off x="1846080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9" name="Google Shape;239;p30"/>
          <p:cNvGrpSpPr/>
          <p:nvPr/>
        </p:nvGrpSpPr>
        <p:grpSpPr>
          <a:xfrm>
            <a:off x="3847449" y="838594"/>
            <a:ext cx="2125118" cy="1678754"/>
            <a:chOff x="3123140" y="1221570"/>
            <a:chExt cx="1712700" cy="1246754"/>
          </a:xfrm>
        </p:grpSpPr>
        <p:sp>
          <p:nvSpPr>
            <p:cNvPr id="240" name="Google Shape;240;p30"/>
            <p:cNvSpPr/>
            <p:nvPr/>
          </p:nvSpPr>
          <p:spPr>
            <a:xfrm rot="-1789476">
              <a:off x="3899258" y="2278597"/>
              <a:ext cx="160451" cy="160451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41" name="Google Shape;241;p30"/>
            <p:cNvSpPr txBox="1"/>
            <p:nvPr/>
          </p:nvSpPr>
          <p:spPr>
            <a:xfrm>
              <a:off x="3446489" y="1987538"/>
              <a:ext cx="10878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3</a:t>
              </a:r>
              <a:endParaRPr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3123140" y="122157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 rot="10800000">
              <a:off x="3934465" y="1920663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44" name="Google Shape;244;p30"/>
            <p:cNvSpPr txBox="1"/>
            <p:nvPr/>
          </p:nvSpPr>
          <p:spPr>
            <a:xfrm>
              <a:off x="3167390" y="1258770"/>
              <a:ext cx="1624200" cy="624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Populated the relational model with clean data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5" name="Google Shape;245;p30"/>
          <p:cNvGrpSpPr/>
          <p:nvPr/>
        </p:nvGrpSpPr>
        <p:grpSpPr>
          <a:xfrm>
            <a:off x="6412870" y="838594"/>
            <a:ext cx="2125118" cy="1678754"/>
            <a:chOff x="5201245" y="1221570"/>
            <a:chExt cx="1712700" cy="1246754"/>
          </a:xfrm>
        </p:grpSpPr>
        <p:sp>
          <p:nvSpPr>
            <p:cNvPr id="246" name="Google Shape;246;p30"/>
            <p:cNvSpPr/>
            <p:nvPr/>
          </p:nvSpPr>
          <p:spPr>
            <a:xfrm rot="-1789476">
              <a:off x="5977648" y="2278597"/>
              <a:ext cx="160451" cy="160451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7" name="Google Shape;247;p30"/>
            <p:cNvSpPr txBox="1"/>
            <p:nvPr/>
          </p:nvSpPr>
          <p:spPr>
            <a:xfrm>
              <a:off x="5554837" y="1987563"/>
              <a:ext cx="10878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5</a:t>
              </a:r>
              <a:endParaRPr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5201245" y="122157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rot="10800000">
              <a:off x="6012570" y="1920663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0" name="Google Shape;250;p30"/>
            <p:cNvSpPr txBox="1"/>
            <p:nvPr/>
          </p:nvSpPr>
          <p:spPr>
            <a:xfrm>
              <a:off x="5245495" y="1258770"/>
              <a:ext cx="1624200" cy="624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Visualized the data to support each project goal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</a:t>
            </a:r>
            <a:endParaRPr/>
          </a:p>
        </p:txBody>
      </p:sp>
      <p:pic>
        <p:nvPicPr>
          <p:cNvPr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250" y="661263"/>
            <a:ext cx="726588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Geographic Trends in EV Adoption</a:t>
            </a:r>
            <a:endParaRPr sz="5100"/>
          </a:p>
        </p:txBody>
      </p:sp>
      <p:sp>
        <p:nvSpPr>
          <p:cNvPr id="262" name="Google Shape;262;p32"/>
          <p:cNvSpPr txBox="1"/>
          <p:nvPr/>
        </p:nvSpPr>
        <p:spPr>
          <a:xfrm>
            <a:off x="4348532" y="1661128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0" b="1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25000" b="1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645175" y="1661125"/>
            <a:ext cx="569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>
            <a:spLocks noGrp="1"/>
          </p:cNvSpPr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EV Count by County</a:t>
            </a:r>
            <a:endParaRPr sz="2000"/>
          </a:p>
        </p:txBody>
      </p:sp>
      <p:pic>
        <p:nvPicPr>
          <p:cNvPr id="269" name="Google Shape;2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425" y="494100"/>
            <a:ext cx="4971622" cy="42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311700" y="1424925"/>
            <a:ext cx="33504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chart shows the number of EVs per county in Washington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helps us identify geographic concentrations of adoption, revealing</a:t>
            </a:r>
            <a:r>
              <a:rPr lang="en" b="1"/>
              <a:t> strong urban-rural disparities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>
            <a:spLocks noGrp="1"/>
          </p:cNvSpPr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EVs by City</a:t>
            </a:r>
            <a:endParaRPr sz="2000"/>
          </a:p>
        </p:txBody>
      </p:sp>
      <p:pic>
        <p:nvPicPr>
          <p:cNvPr id="276" name="Google Shape;276;p3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372" y="1236538"/>
            <a:ext cx="4886827" cy="303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 txBox="1">
            <a:spLocks noGrp="1"/>
          </p:cNvSpPr>
          <p:nvPr>
            <p:ph type="body" idx="1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This granular view confirms </a:t>
            </a:r>
            <a:r>
              <a:rPr lang="en" sz="1600" b="1">
                <a:solidFill>
                  <a:schemeClr val="dk2"/>
                </a:solidFill>
              </a:rPr>
              <a:t>regional hubs </a:t>
            </a:r>
            <a:r>
              <a:rPr lang="en" sz="1600">
                <a:solidFill>
                  <a:schemeClr val="dk2"/>
                </a:solidFill>
              </a:rPr>
              <a:t>(e.g., Seattle, Bellevue) and </a:t>
            </a:r>
            <a:r>
              <a:rPr lang="en" sz="1600" b="1">
                <a:solidFill>
                  <a:schemeClr val="dk2"/>
                </a:solidFill>
              </a:rPr>
              <a:t>underrepresented areas</a:t>
            </a:r>
            <a:endParaRPr sz="16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Avg E-Range by City</a:t>
            </a:r>
            <a:endParaRPr sz="2000"/>
          </a:p>
        </p:txBody>
      </p:sp>
      <p:pic>
        <p:nvPicPr>
          <p:cNvPr id="283" name="Google Shape;283;p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400" y="536525"/>
            <a:ext cx="7177004" cy="426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EV Type and Manufacturer Performance</a:t>
            </a:r>
            <a:endParaRPr sz="5100"/>
          </a:p>
        </p:txBody>
      </p:sp>
      <p:sp>
        <p:nvSpPr>
          <p:cNvPr id="289" name="Google Shape;289;p36"/>
          <p:cNvSpPr txBox="1"/>
          <p:nvPr/>
        </p:nvSpPr>
        <p:spPr>
          <a:xfrm>
            <a:off x="4348532" y="1661128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0" b="1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25000" b="1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BEV vs PHEV Distribution by County</a:t>
            </a:r>
            <a:endParaRPr sz="2000"/>
          </a:p>
        </p:txBody>
      </p:sp>
      <p:pic>
        <p:nvPicPr>
          <p:cNvPr id="295" name="Google Shape;295;p3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550" y="536525"/>
            <a:ext cx="6947076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Vehicle Count by Manufacturer</a:t>
            </a:r>
            <a:endParaRPr sz="3100"/>
          </a:p>
        </p:txBody>
      </p:sp>
      <p:pic>
        <p:nvPicPr>
          <p:cNvPr id="301" name="Google Shape;301;p3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18275"/>
            <a:ext cx="471001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8"/>
          <p:cNvSpPr txBox="1">
            <a:spLocks noGrp="1"/>
          </p:cNvSpPr>
          <p:nvPr>
            <p:ph type="body" idx="1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Compares total vehicle count by top EV manufacturers.</a:t>
            </a:r>
            <a:endParaRPr sz="1600">
              <a:solidFill>
                <a:schemeClr val="dk2"/>
              </a:solidFill>
            </a:endParaRPr>
          </a:p>
          <a:p>
            <a:pPr marL="457200" marR="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Identifies leading brands (e.g., Tesla, Chevrolet) and market penetration.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EV count by City and Model Year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308" name="Google Shape;308;p3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25" y="775250"/>
            <a:ext cx="6865177" cy="426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Infrastructure and Utility Insights</a:t>
            </a:r>
            <a:endParaRPr sz="5100"/>
          </a:p>
        </p:txBody>
      </p:sp>
      <p:sp>
        <p:nvSpPr>
          <p:cNvPr id="314" name="Google Shape;314;p40"/>
          <p:cNvSpPr txBox="1"/>
          <p:nvPr/>
        </p:nvSpPr>
        <p:spPr>
          <a:xfrm>
            <a:off x="4348532" y="1661128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0" b="1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25000" b="1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EV Count by Utility Provider</a:t>
            </a:r>
            <a:endParaRPr sz="2000"/>
          </a:p>
        </p:txBody>
      </p:sp>
      <p:pic>
        <p:nvPicPr>
          <p:cNvPr id="320" name="Google Shape;320;p4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474" y="962051"/>
            <a:ext cx="6741826" cy="37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Which legislative districts have the highest EV ownership?</a:t>
            </a:r>
            <a:endParaRPr sz="2000"/>
          </a:p>
        </p:txBody>
      </p:sp>
      <p:pic>
        <p:nvPicPr>
          <p:cNvPr id="326" name="Google Shape;326;p4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800" y="674975"/>
            <a:ext cx="5803297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Year-over-Year Growth Trends</a:t>
            </a:r>
            <a:endParaRPr sz="5100"/>
          </a:p>
        </p:txBody>
      </p:sp>
      <p:sp>
        <p:nvSpPr>
          <p:cNvPr id="332" name="Google Shape;332;p43"/>
          <p:cNvSpPr txBox="1"/>
          <p:nvPr/>
        </p:nvSpPr>
        <p:spPr>
          <a:xfrm>
            <a:off x="4348532" y="1661128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0" b="1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25000" b="1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EV Vehicle Count by City by Year</a:t>
            </a:r>
            <a:endParaRPr sz="2000"/>
          </a:p>
        </p:txBody>
      </p:sp>
      <p:pic>
        <p:nvPicPr>
          <p:cNvPr id="338" name="Google Shape;338;p4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750" y="787250"/>
            <a:ext cx="6941147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YOY EV Growth By City</a:t>
            </a:r>
            <a:endParaRPr sz="2000"/>
          </a:p>
        </p:txBody>
      </p:sp>
      <p:pic>
        <p:nvPicPr>
          <p:cNvPr id="344" name="Google Shape;344;p4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100" y="572700"/>
            <a:ext cx="7690238" cy="426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EV Charging Station Modeling</a:t>
            </a:r>
            <a:endParaRPr sz="5100"/>
          </a:p>
        </p:txBody>
      </p:sp>
      <p:sp>
        <p:nvSpPr>
          <p:cNvPr id="350" name="Google Shape;350;p46"/>
          <p:cNvSpPr txBox="1"/>
          <p:nvPr/>
        </p:nvSpPr>
        <p:spPr>
          <a:xfrm>
            <a:off x="4348532" y="1661128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0" b="1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25000" b="1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PREDICTIVE MODELING OF EV CHARGING STATION DEMAND</a:t>
            </a:r>
            <a:endParaRPr sz="3000"/>
          </a:p>
        </p:txBody>
      </p:sp>
      <p:sp>
        <p:nvSpPr>
          <p:cNvPr id="356" name="Google Shape;356;p47"/>
          <p:cNvSpPr txBox="1"/>
          <p:nvPr/>
        </p:nvSpPr>
        <p:spPr>
          <a:xfrm>
            <a:off x="3743450" y="1210925"/>
            <a:ext cx="50934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Modeling Approach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Used </a:t>
            </a: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Multiple Linear Regression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 to predict </a:t>
            </a: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charger demand (Y)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 based on: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</a:pP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X₁ = EV Count</a:t>
            </a:r>
            <a:endParaRPr sz="1200" b="1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</a:pP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X₂ = Avg Electric Range</a:t>
            </a:r>
            <a:endParaRPr sz="1200"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Focused on </a:t>
            </a: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top 3 EV cities: Seattle, Bellevue, Vancouver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Applied </a:t>
            </a: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Ordinary Least Squares (OLS)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 to minimize prediction errors.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Model generated coefficients (</a:t>
            </a: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b₁, b₂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) showing impact of each predictor.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Final equation estimates chargers needed using a city’s EV count and range.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57" name="Google Shape;357;p47"/>
          <p:cNvGraphicFramePr/>
          <p:nvPr/>
        </p:nvGraphicFramePr>
        <p:xfrm>
          <a:off x="275450" y="1623663"/>
          <a:ext cx="3261125" cy="2511750"/>
        </p:xfrm>
        <a:graphic>
          <a:graphicData uri="http://schemas.openxmlformats.org/drawingml/2006/table">
            <a:tbl>
              <a:tblPr>
                <a:noFill/>
                <a:tableStyleId>{81012FF6-6F14-46CA-AA71-EF99DA4DAF3F}</a:tableStyleId>
              </a:tblPr>
              <a:tblGrid>
                <a:gridCol w="86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</a:t>
                      </a:r>
                      <a:endParaRPr sz="13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Symbol</a:t>
                      </a:r>
                      <a:endParaRPr sz="13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3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EV_Count</a:t>
                      </a:r>
                      <a:endParaRPr sz="1200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X₁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EVs in city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Avg_Range</a:t>
                      </a:r>
                      <a:endParaRPr sz="1200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X₂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electric range in city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</a:t>
                      </a:r>
                      <a:endParaRPr sz="1200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chargers needed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2" name="Google Shape;362;p48"/>
          <p:cNvGraphicFramePr/>
          <p:nvPr/>
        </p:nvGraphicFramePr>
        <p:xfrm>
          <a:off x="349700" y="3352313"/>
          <a:ext cx="4509350" cy="1085409"/>
        </p:xfrm>
        <a:graphic>
          <a:graphicData uri="http://schemas.openxmlformats.org/drawingml/2006/table">
            <a:tbl>
              <a:tblPr>
                <a:noFill/>
                <a:tableStyleId>{81012FF6-6F14-46CA-AA71-EF99DA4DAF3F}</a:tableStyleId>
              </a:tblPr>
              <a:tblGrid>
                <a:gridCol w="71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City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EV_Count (X₁)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Avg_Range (X₂)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Chargers Needed (Y)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Seattle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Bellevue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3,900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Vancouver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3,086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3" name="Google Shape;363;p48"/>
          <p:cNvGraphicFramePr/>
          <p:nvPr/>
        </p:nvGraphicFramePr>
        <p:xfrm>
          <a:off x="5135300" y="3477075"/>
          <a:ext cx="3470300" cy="983900"/>
        </p:xfrm>
        <a:graphic>
          <a:graphicData uri="http://schemas.openxmlformats.org/drawingml/2006/table">
            <a:tbl>
              <a:tblPr>
                <a:noFill/>
                <a:tableStyleId>{81012FF6-6F14-46CA-AA71-EF99DA4DAF3F}</a:tableStyleId>
              </a:tblPr>
              <a:tblGrid>
                <a:gridCol w="83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 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Avg_Range (X₂)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Chargers Needed (Y)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Average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230.00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35.67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Std Dev 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17.32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21.1266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4" name="Google Shape;364;p48"/>
          <p:cNvGraphicFramePr/>
          <p:nvPr/>
        </p:nvGraphicFramePr>
        <p:xfrm>
          <a:off x="318850" y="611288"/>
          <a:ext cx="8286750" cy="2274883"/>
        </p:xfrm>
        <a:graphic>
          <a:graphicData uri="http://schemas.openxmlformats.org/drawingml/2006/table">
            <a:tbl>
              <a:tblPr>
                <a:noFill/>
                <a:tableStyleId>{81012FF6-6F14-46CA-AA71-EF99DA4DAF3F}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Variable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Interpretation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25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Correlation Coefficients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 (X₁,Y)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0.9999752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Very strong positive correlation between EV count (X₁) and chargers needed (Y)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 (X₂,Y)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0.9974763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Strong positive correlation between avg range (X₂) and chargers needed (Y)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 (X₁,X₂)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0.9969512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Strong positive correlation between EV count and avg range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Multiple Correlation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 (X₁,X₂,Y)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Perfect combined correlation of X₁ and X₂ with Y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Regression Coefficients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b₁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0.0036855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For each additional EV, charger demand increases by +0.0037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b₂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0.1101556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For each extra mile of avg range, charger demand increases by +0.1102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-13.6077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Intercept: baseline chargers when X₁ and X₂ = 0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Policy and Investment Recommendations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375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ROLLOUT STRATEGY</a:t>
            </a:r>
            <a:endParaRPr sz="3500"/>
          </a:p>
        </p:txBody>
      </p:sp>
      <p:sp>
        <p:nvSpPr>
          <p:cNvPr id="375" name="Google Shape;375;p50"/>
          <p:cNvSpPr txBox="1"/>
          <p:nvPr/>
        </p:nvSpPr>
        <p:spPr>
          <a:xfrm>
            <a:off x="1472475" y="2562873"/>
            <a:ext cx="626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76" name="Google Shape;376;p50"/>
          <p:cNvGrpSpPr/>
          <p:nvPr/>
        </p:nvGrpSpPr>
        <p:grpSpPr>
          <a:xfrm>
            <a:off x="2682817" y="924874"/>
            <a:ext cx="6053790" cy="3293771"/>
            <a:chOff x="2024538" y="924863"/>
            <a:chExt cx="5094925" cy="3293771"/>
          </a:xfrm>
        </p:grpSpPr>
        <p:sp>
          <p:nvSpPr>
            <p:cNvPr id="377" name="Google Shape;377;p50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8" name="Google Shape;378;p50"/>
            <p:cNvSpPr/>
            <p:nvPr/>
          </p:nvSpPr>
          <p:spPr>
            <a:xfrm>
              <a:off x="4585763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9" name="Google Shape;379;p50"/>
            <p:cNvSpPr/>
            <p:nvPr/>
          </p:nvSpPr>
          <p:spPr>
            <a:xfrm>
              <a:off x="58656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0" name="Google Shape;380;p50"/>
            <p:cNvSpPr/>
            <p:nvPr/>
          </p:nvSpPr>
          <p:spPr>
            <a:xfrm>
              <a:off x="2026600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66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1" name="Google Shape;381;p50"/>
            <p:cNvSpPr txBox="1"/>
            <p:nvPr/>
          </p:nvSpPr>
          <p:spPr>
            <a:xfrm>
              <a:off x="2024538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0">
                  <a:solidFill>
                    <a:srgbClr val="E06666"/>
                  </a:solidFill>
                  <a:latin typeface="Days One"/>
                  <a:ea typeface="Days One"/>
                  <a:cs typeface="Days One"/>
                  <a:sym typeface="Days One"/>
                </a:rPr>
                <a:t>01</a:t>
              </a:r>
              <a:endParaRPr sz="5500">
                <a:solidFill>
                  <a:srgbClr val="E06666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382" name="Google Shape;382;p50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0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5500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383" name="Google Shape;383;p50"/>
            <p:cNvSpPr txBox="1"/>
            <p:nvPr/>
          </p:nvSpPr>
          <p:spPr>
            <a:xfrm>
              <a:off x="4585388" y="3336838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0">
                  <a:solidFill>
                    <a:srgbClr val="3AB0FF"/>
                  </a:solidFill>
                  <a:latin typeface="Days One"/>
                  <a:ea typeface="Days One"/>
                  <a:cs typeface="Days One"/>
                  <a:sym typeface="Days One"/>
                </a:rPr>
                <a:t>03</a:t>
              </a:r>
              <a:endParaRPr sz="5500">
                <a:solidFill>
                  <a:srgbClr val="3AB0FF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384" name="Google Shape;384;p50"/>
            <p:cNvSpPr txBox="1"/>
            <p:nvPr/>
          </p:nvSpPr>
          <p:spPr>
            <a:xfrm>
              <a:off x="5866663" y="3336861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0">
                  <a:solidFill>
                    <a:srgbClr val="8900E1"/>
                  </a:solidFill>
                  <a:latin typeface="Days One"/>
                  <a:ea typeface="Days One"/>
                  <a:cs typeface="Days One"/>
                  <a:sym typeface="Days One"/>
                </a:rPr>
                <a:t>04</a:t>
              </a:r>
              <a:endParaRPr sz="5500">
                <a:solidFill>
                  <a:srgbClr val="8900E1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385" name="Google Shape;385;p50"/>
            <p:cNvSpPr txBox="1"/>
            <p:nvPr/>
          </p:nvSpPr>
          <p:spPr>
            <a:xfrm>
              <a:off x="3319237" y="1064466"/>
              <a:ext cx="1252800" cy="3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9BD83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Underserved Utilities</a:t>
              </a:r>
              <a:endParaRPr sz="1000" b="1">
                <a:solidFill>
                  <a:srgbClr val="9BD83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6" name="Google Shape;386;p50"/>
            <p:cNvSpPr txBox="1"/>
            <p:nvPr/>
          </p:nvSpPr>
          <p:spPr>
            <a:xfrm>
              <a:off x="3306175" y="1616300"/>
              <a:ext cx="1178700" cy="157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3F3F3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Cross-reference utility coverage with vehicle density and e-range data to pinpoint gaps in charging infrastructure despite strong adoption.</a:t>
              </a:r>
              <a:endParaRPr sz="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87" name="Google Shape;387;p50"/>
            <p:cNvSpPr txBox="1"/>
            <p:nvPr/>
          </p:nvSpPr>
          <p:spPr>
            <a:xfrm>
              <a:off x="4585913" y="1064466"/>
              <a:ext cx="12528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3AB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Phase Installations by Region and Demand</a:t>
              </a:r>
              <a:endParaRPr sz="1000" b="1">
                <a:solidFill>
                  <a:srgbClr val="3AB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8" name="Google Shape;388;p50"/>
            <p:cNvSpPr txBox="1"/>
            <p:nvPr/>
          </p:nvSpPr>
          <p:spPr>
            <a:xfrm>
              <a:off x="4585900" y="1563100"/>
              <a:ext cx="1178700" cy="16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EFEFE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EFEFE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Stagger deployment across Q2–Q4 2025 based on regional readiness, with early installs in dense urban/suburban areas and follow-ups in rural growth zones.</a:t>
              </a:r>
              <a:endParaRPr sz="800">
                <a:solidFill>
                  <a:srgbClr val="EFEFE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EFEFE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89" name="Google Shape;389;p50"/>
            <p:cNvSpPr txBox="1"/>
            <p:nvPr/>
          </p:nvSpPr>
          <p:spPr>
            <a:xfrm>
              <a:off x="5865338" y="1064466"/>
              <a:ext cx="12528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8900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Align with Policy and Incentives</a:t>
              </a:r>
              <a:endParaRPr sz="1000" b="1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0" name="Google Shape;390;p50"/>
            <p:cNvSpPr txBox="1"/>
            <p:nvPr/>
          </p:nvSpPr>
          <p:spPr>
            <a:xfrm>
              <a:off x="5865350" y="1563100"/>
              <a:ext cx="1178700" cy="16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D9D9D9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D9D9D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Leverage state and federal EV incentives, zoning policies, and utility partnerships to optimize ROI and accelerate approvals in key locations.</a:t>
              </a:r>
              <a:endParaRPr sz="800">
                <a:solidFill>
                  <a:srgbClr val="D9D9D9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91" name="Google Shape;391;p50"/>
            <p:cNvSpPr txBox="1"/>
            <p:nvPr/>
          </p:nvSpPr>
          <p:spPr>
            <a:xfrm>
              <a:off x="2024538" y="1064466"/>
              <a:ext cx="12528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E0666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Prioritize High-Adoption Zones</a:t>
              </a:r>
              <a:endParaRPr sz="10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2" name="Google Shape;392;p50"/>
            <p:cNvSpPr txBox="1"/>
            <p:nvPr/>
          </p:nvSpPr>
          <p:spPr>
            <a:xfrm>
              <a:off x="2024550" y="1563075"/>
              <a:ext cx="1178700" cy="16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45700" bIns="1827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 vehicle count and growth data to identify top counties, postal codes, and legislative districts with high EV concentration and momentum.</a:t>
              </a:r>
              <a:endParaRPr sz="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393" name="Google Shape;393;p50"/>
            <p:cNvCxnSpPr/>
            <p:nvPr/>
          </p:nvCxnSpPr>
          <p:spPr>
            <a:xfrm>
              <a:off x="2098088" y="3338491"/>
              <a:ext cx="1105500" cy="0"/>
            </a:xfrm>
            <a:prstGeom prst="straightConnector1">
              <a:avLst/>
            </a:prstGeom>
            <a:noFill/>
            <a:ln w="9525" cap="flat" cmpd="sng">
              <a:solidFill>
                <a:srgbClr val="E0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50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95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50"/>
            <p:cNvCxnSpPr/>
            <p:nvPr/>
          </p:nvCxnSpPr>
          <p:spPr>
            <a:xfrm>
              <a:off x="4659025" y="3338491"/>
              <a:ext cx="1105500" cy="0"/>
            </a:xfrm>
            <a:prstGeom prst="straightConnector1">
              <a:avLst/>
            </a:prstGeom>
            <a:noFill/>
            <a:ln w="9525" cap="flat" cmpd="sng">
              <a:solidFill>
                <a:srgbClr val="3AB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50"/>
            <p:cNvCxnSpPr/>
            <p:nvPr/>
          </p:nvCxnSpPr>
          <p:spPr>
            <a:xfrm>
              <a:off x="5925913" y="3338491"/>
              <a:ext cx="1105500" cy="0"/>
            </a:xfrm>
            <a:prstGeom prst="straightConnector1">
              <a:avLst/>
            </a:prstGeom>
            <a:noFill/>
            <a:ln w="9525" cap="flat" cmpd="sng">
              <a:solidFill>
                <a:srgbClr val="8900E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7" name="Google Shape;397;p50"/>
          <p:cNvSpPr txBox="1">
            <a:spLocks noGrp="1"/>
          </p:cNvSpPr>
          <p:nvPr>
            <p:ph type="body" idx="1"/>
          </p:nvPr>
        </p:nvSpPr>
        <p:spPr>
          <a:xfrm>
            <a:off x="288550" y="990749"/>
            <a:ext cx="2128500" cy="29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phased rollout balances near-term ROI with long-term growth by prioritizing high-adoption areas, filling infrastructure gaps, and aligning with grant timelines—positioning the company as a national leader in EV charging by end of 2025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1"/>
          <p:cNvSpPr txBox="1">
            <a:spLocks noGrp="1"/>
          </p:cNvSpPr>
          <p:nvPr>
            <p:ph type="title"/>
          </p:nvPr>
        </p:nvSpPr>
        <p:spPr>
          <a:xfrm>
            <a:off x="0" y="283725"/>
            <a:ext cx="873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SUMMARY OF INSIGHTS</a:t>
            </a:r>
            <a:endParaRPr/>
          </a:p>
        </p:txBody>
      </p:sp>
      <p:sp>
        <p:nvSpPr>
          <p:cNvPr id="403" name="Google Shape;403;p51"/>
          <p:cNvSpPr txBox="1"/>
          <p:nvPr/>
        </p:nvSpPr>
        <p:spPr>
          <a:xfrm>
            <a:off x="125175" y="2678152"/>
            <a:ext cx="1956000" cy="1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King, Clark, and Kitsap counties are leaders; rural counties remain under-penetrated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/>
        </p:nvSpPr>
        <p:spPr>
          <a:xfrm>
            <a:off x="342755" y="1440000"/>
            <a:ext cx="16803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GEOGRAPHY</a:t>
            </a:r>
            <a:endParaRPr sz="1200" b="1">
              <a:solidFill>
                <a:srgbClr val="3019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2393928" y="2613125"/>
            <a:ext cx="1956000" cy="1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BEVs dominate in range and volume; PHEVs show strong presence in transitional regions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51"/>
          <p:cNvSpPr txBox="1"/>
          <p:nvPr/>
        </p:nvSpPr>
        <p:spPr>
          <a:xfrm>
            <a:off x="2291750" y="1440000"/>
            <a:ext cx="20034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endParaRPr sz="1200" b="1">
              <a:solidFill>
                <a:srgbClr val="3019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07" name="Google Shape;407;p51"/>
          <p:cNvSpPr txBox="1"/>
          <p:nvPr/>
        </p:nvSpPr>
        <p:spPr>
          <a:xfrm>
            <a:off x="4662695" y="2613127"/>
            <a:ext cx="1956000" cy="1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Highest loads concentrated in Puget Sound Energy and Seattle City Light zones</a:t>
            </a:r>
            <a:endParaRPr sz="1000">
              <a:solidFill>
                <a:srgbClr val="301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51"/>
          <p:cNvSpPr txBox="1"/>
          <p:nvPr/>
        </p:nvSpPr>
        <p:spPr>
          <a:xfrm>
            <a:off x="4615481" y="1440000"/>
            <a:ext cx="20034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UTILITIES</a:t>
            </a:r>
            <a:endParaRPr sz="1200" b="1">
              <a:solidFill>
                <a:srgbClr val="3019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09" name="Google Shape;409;p51"/>
          <p:cNvSpPr txBox="1"/>
          <p:nvPr/>
        </p:nvSpPr>
        <p:spPr>
          <a:xfrm>
            <a:off x="2647205" y="1696983"/>
            <a:ext cx="19560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27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9A6AB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</a:t>
            </a:r>
            <a:endParaRPr sz="5000" b="1">
              <a:solidFill>
                <a:srgbClr val="301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51"/>
          <p:cNvSpPr txBox="1"/>
          <p:nvPr/>
        </p:nvSpPr>
        <p:spPr>
          <a:xfrm>
            <a:off x="4864278" y="1714832"/>
            <a:ext cx="19560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27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9A6AB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03</a:t>
            </a:r>
            <a:endParaRPr sz="5000" b="1">
              <a:solidFill>
                <a:srgbClr val="301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1" name="Google Shape;411;p51"/>
          <p:cNvCxnSpPr/>
          <p:nvPr/>
        </p:nvCxnSpPr>
        <p:spPr>
          <a:xfrm rot="10800000" flipH="1">
            <a:off x="316273" y="1696833"/>
            <a:ext cx="5560200" cy="180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412" name="Google Shape;412;p51"/>
          <p:cNvSpPr txBox="1">
            <a:spLocks noGrp="1"/>
          </p:cNvSpPr>
          <p:nvPr>
            <p:ph type="title"/>
          </p:nvPr>
        </p:nvSpPr>
        <p:spPr>
          <a:xfrm>
            <a:off x="326820" y="1784116"/>
            <a:ext cx="1274400" cy="9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9A6ABA"/>
                </a:solidFill>
              </a:rPr>
              <a:t>01</a:t>
            </a:r>
            <a:endParaRPr sz="4400">
              <a:solidFill>
                <a:srgbClr val="9A6ABA"/>
              </a:solidFill>
            </a:endParaRPr>
          </a:p>
        </p:txBody>
      </p:sp>
      <p:cxnSp>
        <p:nvCxnSpPr>
          <p:cNvPr id="413" name="Google Shape;413;p51"/>
          <p:cNvCxnSpPr/>
          <p:nvPr/>
        </p:nvCxnSpPr>
        <p:spPr>
          <a:xfrm rot="10800000" flipH="1">
            <a:off x="316265" y="1761607"/>
            <a:ext cx="8438400" cy="10200"/>
          </a:xfrm>
          <a:prstGeom prst="straightConnector1">
            <a:avLst/>
          </a:prstGeom>
          <a:noFill/>
          <a:ln w="9525" cap="flat" cmpd="sng">
            <a:solidFill>
              <a:srgbClr val="301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4" name="Google Shape;414;p51"/>
          <p:cNvSpPr txBox="1"/>
          <p:nvPr/>
        </p:nvSpPr>
        <p:spPr>
          <a:xfrm>
            <a:off x="6986420" y="2613127"/>
            <a:ext cx="1956000" cy="1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Top cities show accelerating adoption, but 2024 drops hint at saturation or reporting lag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51"/>
          <p:cNvSpPr txBox="1"/>
          <p:nvPr/>
        </p:nvSpPr>
        <p:spPr>
          <a:xfrm>
            <a:off x="6939206" y="1440000"/>
            <a:ext cx="20034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sz="1200" b="1">
              <a:solidFill>
                <a:srgbClr val="3019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16" name="Google Shape;416;p51"/>
          <p:cNvSpPr txBox="1"/>
          <p:nvPr/>
        </p:nvSpPr>
        <p:spPr>
          <a:xfrm>
            <a:off x="7188003" y="1714832"/>
            <a:ext cx="19560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27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9A6AB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04</a:t>
            </a:r>
            <a:endParaRPr sz="5000" b="1">
              <a:solidFill>
                <a:srgbClr val="301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7" name="Google Shape;417;p51"/>
          <p:cNvCxnSpPr/>
          <p:nvPr/>
        </p:nvCxnSpPr>
        <p:spPr>
          <a:xfrm rot="10800000" flipH="1">
            <a:off x="4716073" y="4532558"/>
            <a:ext cx="5560200" cy="18000"/>
          </a:xfrm>
          <a:prstGeom prst="straightConnector1">
            <a:avLst/>
          </a:prstGeom>
          <a:noFill/>
          <a:ln>
            <a:noFill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 txBox="1">
            <a:spLocks noGrp="1"/>
          </p:cNvSpPr>
          <p:nvPr>
            <p:ph type="title"/>
          </p:nvPr>
        </p:nvSpPr>
        <p:spPr>
          <a:xfrm>
            <a:off x="0" y="146875"/>
            <a:ext cx="67566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423" name="Google Shape;423;p52"/>
          <p:cNvSpPr txBox="1">
            <a:spLocks noGrp="1"/>
          </p:cNvSpPr>
          <p:nvPr>
            <p:ph type="body" idx="1"/>
          </p:nvPr>
        </p:nvSpPr>
        <p:spPr>
          <a:xfrm>
            <a:off x="932250" y="1143000"/>
            <a:ext cx="7279500" cy="26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Expand charging in underserved areas (e.g., Yakima, Klickitat) to close coverage gaps.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Coordinate with utility providers to align infrastructure with grid capacity.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Focus rollout in top cities (Seattle, Bellevue, Vancouver) based on highest EV demand.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Tailor incentives based on local preference for BEV vs. PHEV vehicles.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Plan for additional chargers in rural areas as lower-range EV models increase.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Use predictive modeling to guide future expansion and resource allocation.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>
            <a:spLocks noGrp="1"/>
          </p:cNvSpPr>
          <p:nvPr>
            <p:ph type="title"/>
          </p:nvPr>
        </p:nvSpPr>
        <p:spPr>
          <a:xfrm>
            <a:off x="-44800" y="1137575"/>
            <a:ext cx="4744500" cy="31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CLOSURE &amp;</a:t>
            </a:r>
            <a:endParaRPr sz="48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TAKE-</a:t>
            </a:r>
            <a:endParaRPr sz="48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AWAYS</a:t>
            </a:r>
            <a:endParaRPr sz="4800"/>
          </a:p>
        </p:txBody>
      </p:sp>
      <p:sp>
        <p:nvSpPr>
          <p:cNvPr id="429" name="Google Shape;429;p53"/>
          <p:cNvSpPr txBox="1">
            <a:spLocks noGrp="1"/>
          </p:cNvSpPr>
          <p:nvPr>
            <p:ph type="body" idx="1"/>
          </p:nvPr>
        </p:nvSpPr>
        <p:spPr>
          <a:xfrm>
            <a:off x="4857425" y="1175683"/>
            <a:ext cx="4192800" cy="31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 adoption is </a:t>
            </a:r>
            <a:r>
              <a:rPr lang="en" b="1"/>
              <a:t>geographically uneven</a:t>
            </a:r>
            <a:r>
              <a:rPr lang="en"/>
              <a:t>, technologically diverse, and infrastructure-dependent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Our data-driven approach reveals </a:t>
            </a:r>
            <a:r>
              <a:rPr lang="en" b="1"/>
              <a:t>actionable patterns</a:t>
            </a:r>
            <a:r>
              <a:rPr lang="en"/>
              <a:t> to guide investment and planning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Next steps: integrate policy, forecast growth, and map charging station priorities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"/>
          <p:cNvSpPr txBox="1">
            <a:spLocks noGrp="1"/>
          </p:cNvSpPr>
          <p:nvPr>
            <p:ph type="title"/>
          </p:nvPr>
        </p:nvSpPr>
        <p:spPr>
          <a:xfrm>
            <a:off x="1704100" y="90150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highlight>
                  <a:schemeClr val="accent3"/>
                </a:highlight>
              </a:rPr>
              <a:t>THANK YOU!</a:t>
            </a:r>
            <a:endParaRPr sz="600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QUESTIONS?</a:t>
            </a:r>
            <a:endParaRPr sz="6000">
              <a:solidFill>
                <a:schemeClr val="dk1"/>
              </a:solidFill>
              <a:highlight>
                <a:schemeClr val="accent1"/>
              </a:highlight>
            </a:endParaRPr>
          </a:p>
        </p:txBody>
      </p:sp>
      <p:sp>
        <p:nvSpPr>
          <p:cNvPr id="435" name="Google Shape;435;p54"/>
          <p:cNvSpPr txBox="1"/>
          <p:nvPr/>
        </p:nvSpPr>
        <p:spPr>
          <a:xfrm>
            <a:off x="1926575" y="4605825"/>
            <a:ext cx="5985900" cy="11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lt1"/>
                </a:solidFill>
              </a:rPr>
              <a:t>Disclaimer: This presentation is part of a class project for Database Design &amp; Management, MASY1-GC 3500 and is not affiliated with or endorsed by Amazon. All content is for academic purposes only.</a:t>
            </a:r>
            <a:endParaRPr sz="700" i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700" i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i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41" name="Google Shape;441;p55"/>
          <p:cNvSpPr txBox="1"/>
          <p:nvPr/>
        </p:nvSpPr>
        <p:spPr>
          <a:xfrm>
            <a:off x="426450" y="1090925"/>
            <a:ext cx="8195400" cy="3184800"/>
          </a:xfrm>
          <a:prstGeom prst="rect">
            <a:avLst/>
          </a:prstGeom>
          <a:noFill/>
          <a:ln w="9525" cap="flat" cmpd="sng">
            <a:solidFill>
              <a:srgbClr val="AE3D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Oliveira, W., &amp; Ahmed, Z. (n.d.). </a:t>
            </a:r>
            <a:r>
              <a:rPr lang="en" sz="1200" i="1">
                <a:latin typeface="Montserrat"/>
                <a:ea typeface="Montserrat"/>
                <a:cs typeface="Montserrat"/>
                <a:sym typeface="Montserrat"/>
              </a:rPr>
              <a:t>Electric vehicle population dataset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. Kaggle. Retrieved from</a:t>
            </a:r>
            <a:r>
              <a:rPr lang="en" sz="1200" u="sng">
                <a:solidFill>
                  <a:srgbClr val="467886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https://www.kaggle.com/datasets/willianoliveiragibin/electric-vehicle-population</a:t>
            </a:r>
            <a:endParaRPr sz="1200" u="sng">
              <a:solidFill>
                <a:srgbClr val="46788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u="sng">
              <a:solidFill>
                <a:srgbClr val="46788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886"/>
              </a:buClr>
              <a:buSzPts val="1200"/>
              <a:buFont typeface="Montserrat"/>
              <a:buAutoNum type="arabicPeriod"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U.S. Department of Energy. (n.d.). </a:t>
            </a:r>
            <a:r>
              <a:rPr lang="en" sz="1100" i="1">
                <a:latin typeface="Montserrat"/>
                <a:ea typeface="Montserrat"/>
                <a:cs typeface="Montserrat"/>
                <a:sym typeface="Montserrat"/>
              </a:rPr>
              <a:t>Alternative Fuels Data Center (AFDC)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. Retrieved May 5, 2025, from</a:t>
            </a:r>
            <a:r>
              <a:rPr lang="en" sz="1100"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https://afdc.energy.gov</a:t>
            </a:r>
            <a:b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</a:br>
            <a:endParaRPr sz="1100" u="sng">
              <a:solidFill>
                <a:schemeClr val="hlink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886"/>
              </a:buClr>
              <a:buSzPts val="1200"/>
              <a:buFont typeface="Montserrat"/>
              <a:buAutoNum type="arabicPeriod"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International Energy Agency. (2024). </a:t>
            </a:r>
            <a:r>
              <a:rPr lang="en" sz="1100" i="1">
                <a:latin typeface="Montserrat"/>
                <a:ea typeface="Montserrat"/>
                <a:cs typeface="Montserrat"/>
                <a:sym typeface="Montserrat"/>
              </a:rPr>
              <a:t>Global EV outlook 2024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" sz="1100"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https://www.iea.org/reports/global-ev-outlook-2024</a:t>
            </a:r>
            <a:b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</a:br>
            <a:endParaRPr sz="1100" u="sng">
              <a:solidFill>
                <a:schemeClr val="hlink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886"/>
              </a:buClr>
              <a:buSzPts val="1200"/>
              <a:buFont typeface="Montserrat"/>
              <a:buAutoNum type="arabicPeriod"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Washington State Department of Transportation. (2023). </a:t>
            </a:r>
            <a:r>
              <a:rPr lang="en" sz="1100" i="1">
                <a:latin typeface="Montserrat"/>
                <a:ea typeface="Montserrat"/>
                <a:cs typeface="Montserrat"/>
                <a:sym typeface="Montserrat"/>
              </a:rPr>
              <a:t>Washington state electric vehicle infrastructure plan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" sz="1100"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https://wsdot.wa.gov/construction-planning/ev-infrastructure</a:t>
            </a:r>
            <a:endParaRPr sz="1100" u="sng">
              <a:solidFill>
                <a:schemeClr val="hlink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u="sng">
              <a:solidFill>
                <a:srgbClr val="46788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graphicFrame>
        <p:nvGraphicFramePr>
          <p:cNvPr id="447" name="Google Shape;447;p56"/>
          <p:cNvGraphicFramePr/>
          <p:nvPr/>
        </p:nvGraphicFramePr>
        <p:xfrm>
          <a:off x="3763600" y="445025"/>
          <a:ext cx="4805450" cy="4507020"/>
        </p:xfrm>
        <a:graphic>
          <a:graphicData uri="http://schemas.openxmlformats.org/drawingml/2006/table">
            <a:tbl>
              <a:tblPr>
                <a:noFill/>
                <a:tableStyleId>{81012FF6-6F14-46CA-AA71-EF99DA4DAF3F}</a:tableStyleId>
              </a:tblPr>
              <a:tblGrid>
                <a:gridCol w="480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Regression equation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Y′ = a + b₁·X₁ + b₂·X₂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Correlation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r(X₁,Y)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r(X₂,Y)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r(X₁,X₂)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r(X₁,Y): correlation EV_Count &amp; Chargers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r(X₂,Y): correlation Avg_Range &amp; Chargers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r(X₁,X₂): correlation EV_Count &amp; Avg_Range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Compute R (multiple correlation)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R(X₁,X₂,Y) = sqrt( r(X₁,Y)² + r(X₂,Y)² - 2*r(X₁,Y)*r(X₁,X₂)*r(X₂,Y) / (1 - r(X₁,X₂)²))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Compute slopes (b₁, b₂)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b₁ = (r(X₁,Y) - r(X₁,X₂)*r(X₂,Y)) * SD(Y) / ((1 - r(X₁,X₂)²)*SD(X₁))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b₂ = (r(X₂,Y) - r(X₁,X₂)*r(X₁,Y)) * SD(Y) / ((1 - r(X₁,X₂)²)*SD(X₂))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Macintosh PowerPoint</Application>
  <PresentationFormat>On-screen Show (16:9)</PresentationFormat>
  <Paragraphs>273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Roboto</vt:lpstr>
      <vt:lpstr>Space Mono</vt:lpstr>
      <vt:lpstr>Montserrat Medium</vt:lpstr>
      <vt:lpstr>Montserrat</vt:lpstr>
      <vt:lpstr>Calibri</vt:lpstr>
      <vt:lpstr>DM Sans</vt:lpstr>
      <vt:lpstr>Days One</vt:lpstr>
      <vt:lpstr>Montserrat Black</vt:lpstr>
      <vt:lpstr>Play</vt:lpstr>
      <vt:lpstr>Arial</vt:lpstr>
      <vt:lpstr>Montserrat ExtraBold</vt:lpstr>
      <vt:lpstr>NYU Bold</vt:lpstr>
      <vt:lpstr>THE BOLT: Electric Vehicle Adoption Analysis in Washington State</vt:lpstr>
      <vt:lpstr>AGENDA</vt:lpstr>
      <vt:lpstr>COMPANY OVERVIEW</vt:lpstr>
      <vt:lpstr>COMPANY OBJECTIVES</vt:lpstr>
      <vt:lpstr>PROJECT GOALS</vt:lpstr>
      <vt:lpstr>DATA DESCRIPTION</vt:lpstr>
      <vt:lpstr>ALGORITHM</vt:lpstr>
      <vt:lpstr>DATA MODEL</vt:lpstr>
      <vt:lpstr>Geographic Trends in EV Adoption</vt:lpstr>
      <vt:lpstr>EV Count by County</vt:lpstr>
      <vt:lpstr>EVs by City</vt:lpstr>
      <vt:lpstr>Avg E-Range by City</vt:lpstr>
      <vt:lpstr>EV Type and Manufacturer Performance</vt:lpstr>
      <vt:lpstr>BEV vs PHEV Distribution by County</vt:lpstr>
      <vt:lpstr>Vehicle Count by Manufacturer</vt:lpstr>
      <vt:lpstr>EV count by City and Model Year </vt:lpstr>
      <vt:lpstr>Infrastructure and Utility Insights</vt:lpstr>
      <vt:lpstr>EV Count by Utility Provider</vt:lpstr>
      <vt:lpstr>Which legislative districts have the highest EV ownership?</vt:lpstr>
      <vt:lpstr>Year-over-Year Growth Trends</vt:lpstr>
      <vt:lpstr>EV Vehicle Count by City by Year</vt:lpstr>
      <vt:lpstr>YOY EV Growth By City</vt:lpstr>
      <vt:lpstr>EV Charging Station Modeling</vt:lpstr>
      <vt:lpstr>PREDICTIVE MODELING OF EV CHARGING STATION DEMAND</vt:lpstr>
      <vt:lpstr>PowerPoint Presentation</vt:lpstr>
      <vt:lpstr>Strategic Policy and Investment Recommendations </vt:lpstr>
      <vt:lpstr>ROLLOUT STRATEGY</vt:lpstr>
      <vt:lpstr>SUMMARY OF INSIGHTS</vt:lpstr>
      <vt:lpstr>RECOMMENDATIONS</vt:lpstr>
      <vt:lpstr>CLOSURE &amp; TAKE- AWAYS</vt:lpstr>
      <vt:lpstr>THANK YOU!  QUESTIONS?</vt:lpstr>
      <vt:lpstr>REFERENCES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 Chaitan Varma</cp:lastModifiedBy>
  <cp:revision>2</cp:revision>
  <dcterms:modified xsi:type="dcterms:W3CDTF">2026-03-20T23:57:17Z</dcterms:modified>
</cp:coreProperties>
</file>